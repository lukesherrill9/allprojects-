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10287000" cx="18288000"/>
  <p:notesSz cx="6858000" cy="9144000"/>
  <p:embeddedFontLst>
    <p:embeddedFont>
      <p:font typeface="DM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CF1800-5662-4B13-B396-460371D4CE44}">
  <a:tblStyle styleId="{C4CF1800-5662-4B13-B396-460371D4CE4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DMSans-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DMSans-italic.fntdata"/><Relationship Id="rId14" Type="http://schemas.openxmlformats.org/officeDocument/2006/relationships/slide" Target="slides/slide8.xml"/><Relationship Id="rId36" Type="http://schemas.openxmlformats.org/officeDocument/2006/relationships/font" Target="fonts/DMSans-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DM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Kalsang</a:t>
            </a:r>
            <a:endParaRPr/>
          </a:p>
        </p:txBody>
      </p:sp>
      <p:sp>
        <p:nvSpPr>
          <p:cNvPr id="66" name="Google Shape;6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Kalsang</a:t>
            </a:r>
            <a:endParaRPr/>
          </a:p>
        </p:txBody>
      </p:sp>
      <p:sp>
        <p:nvSpPr>
          <p:cNvPr id="73" name="Google Shape;7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Kalsang</a:t>
            </a:r>
            <a:endParaRPr>
              <a:solidFill>
                <a:schemeClr val="dk1"/>
              </a:solidFill>
            </a:endParaRPr>
          </a:p>
          <a:p>
            <a:pPr indent="0" lvl="0" marL="0" rtl="0" algn="l">
              <a:spcBef>
                <a:spcPts val="0"/>
              </a:spcBef>
              <a:spcAft>
                <a:spcPts val="0"/>
              </a:spcAft>
              <a:buNone/>
            </a:pPr>
            <a:r>
              <a:t/>
            </a:r>
            <a:endParaRPr/>
          </a:p>
        </p:txBody>
      </p:sp>
      <p:sp>
        <p:nvSpPr>
          <p:cNvPr id="80" name="Google Shape;8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Kalsang</a:t>
            </a:r>
            <a:endParaRPr/>
          </a:p>
        </p:txBody>
      </p:sp>
      <p:sp>
        <p:nvSpPr>
          <p:cNvPr id="87" name="Google Shape;8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37808e36f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Jad</a:t>
            </a:r>
            <a:endParaRPr/>
          </a:p>
        </p:txBody>
      </p:sp>
      <p:sp>
        <p:nvSpPr>
          <p:cNvPr id="148" name="Google Shape;148;g337808e36f9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37433811c4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Jad</a:t>
            </a:r>
            <a:endParaRPr/>
          </a:p>
        </p:txBody>
      </p:sp>
      <p:sp>
        <p:nvSpPr>
          <p:cNvPr id="155" name="Google Shape;155;g337433811c4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7433811c4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Jad</a:t>
            </a:r>
            <a:endParaRPr/>
          </a:p>
        </p:txBody>
      </p:sp>
      <p:sp>
        <p:nvSpPr>
          <p:cNvPr id="164" name="Google Shape;164;g337433811c4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7be165d39_4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Jad</a:t>
            </a:r>
            <a:endParaRPr/>
          </a:p>
        </p:txBody>
      </p:sp>
      <p:sp>
        <p:nvSpPr>
          <p:cNvPr id="172" name="Google Shape;172;g337be165d39_4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37be165d39_4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Jad</a:t>
            </a:r>
            <a:endParaRPr/>
          </a:p>
        </p:txBody>
      </p:sp>
      <p:sp>
        <p:nvSpPr>
          <p:cNvPr id="180" name="Google Shape;180;g337be165d39_4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Manny</a:t>
            </a:r>
            <a:endParaRPr/>
          </a:p>
        </p:txBody>
      </p:sp>
      <p:sp>
        <p:nvSpPr>
          <p:cNvPr id="188" name="Google Shape;18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37808e36f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37808e36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Manny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Age Distribution of Customers: The number of customers is roughly evenly distributed across all ages, with a small peak in the 50-year-old bracket.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Average </a:t>
            </a:r>
            <a:r>
              <a:rPr lang="en-US"/>
              <a:t>Spending</a:t>
            </a:r>
            <a:r>
              <a:rPr lang="en-US"/>
              <a:t> by Age: Age-groups roughly evenly </a:t>
            </a:r>
            <a:r>
              <a:rPr lang="en-US"/>
              <a:t>distributed</a:t>
            </a:r>
            <a:r>
              <a:rPr lang="en-US"/>
              <a:t> based on their average spending, again with a very small peak around 50s.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3515d86f40_2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3515d86f40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Manny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Household Size vs. Spending Patterns: Customer’s total amount spent based on their household is illustrated in this graph, with no clear pattern or trend. However, we do see that customers coming from households with 2 individuals have a slightly total amount spent. This could be attributed to LuxeMod’s business model of targeting young professionals and new families, who tend to be smaller in size.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37808e36f9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37808e36f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Manny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Annual Income vs. Total Spending by Homeownership Status: The graph indicates that for homeowners, as their income increases, their total amount spent in LuxeMod decreases, seen as the orange regression line. On the other hand, for non-homeowner, we see the opposite; as their annual income increases, so does their total spending in LuxeMod, as </a:t>
            </a:r>
            <a:r>
              <a:rPr lang="en-US"/>
              <a:t>indicated</a:t>
            </a:r>
            <a:r>
              <a:rPr lang="en-US"/>
              <a:t> by the yellow regression line. While these slopes may be weak, they do support the that LuxeMod’s business model of targeting young professionals and new families (non-</a:t>
            </a:r>
            <a:r>
              <a:rPr lang="en-US"/>
              <a:t>homeowners</a:t>
            </a:r>
            <a:r>
              <a:rPr lang="en-US"/>
              <a:t>) has been working, as they tend to spend more money on the company.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3515d86f40_2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3515d86f40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Manny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Sessions per Month vs. Purchase Frequency: The amount of sessions (</a:t>
            </a:r>
            <a:r>
              <a:rPr lang="en-US"/>
              <a:t>occasions</a:t>
            </a:r>
            <a:r>
              <a:rPr lang="en-US"/>
              <a:t> in which the customer has visited the company’s website), appears to be evenly </a:t>
            </a:r>
            <a:r>
              <a:rPr lang="en-US"/>
              <a:t>distributed</a:t>
            </a:r>
            <a:r>
              <a:rPr lang="en-US"/>
              <a:t> across 0-25 sessions and 0-16 purchase frequency, with some outliers pulling the regression line down, giving it a negative slope. Because of the outliers and the evenly </a:t>
            </a:r>
            <a:r>
              <a:rPr lang="en-US"/>
              <a:t>distributed data, not much information was able to gathered from this chart other than that there is a very weak association between sessions per month and purchase frequency, indicating that there are few customers who visited the website an extreme amount of times, yet reduced their purchase frequency. Maybe these individuals were unsure on whether they should make their next purchase and enjoyed doing some “window shopping,” thus always coming back to the website?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37808e36f9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37808e36f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Manny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Average Session Duration vs. Purchase Frequency: Based on the </a:t>
            </a:r>
            <a:r>
              <a:rPr lang="en-US"/>
              <a:t>average</a:t>
            </a:r>
            <a:r>
              <a:rPr lang="en-US"/>
              <a:t> amount of time a customer spends on the company’s </a:t>
            </a:r>
            <a:r>
              <a:rPr lang="en-US"/>
              <a:t>website</a:t>
            </a:r>
            <a:r>
              <a:rPr lang="en-US"/>
              <a:t>, we see this variable have a very weak positive relationship with purchase history. It is therefore safe say that average session duration is not a strong predictor of purchase frequency.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37808e36f9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37808e36f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Manny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Months Active vs. Satisfaction Score by Product Category: Based on the number of months a customer has had an active status, we see different slopes based on their purchased product category. A key </a:t>
            </a:r>
            <a:r>
              <a:rPr lang="en-US"/>
              <a:t>insight</a:t>
            </a:r>
            <a:r>
              <a:rPr lang="en-US"/>
              <a:t> that can be observed in this chart is that for customers with bedroom product purchases (black line), the regression line presents the strongest positive association between months active and satisfaction score. This suggests that LuxeMod is best at both retaining its customers and keeping them happy, particularly, with their bedroom products category! Customers are happy with the bedroom products they </a:t>
            </a:r>
            <a:r>
              <a:rPr lang="en-US"/>
              <a:t>receive</a:t>
            </a:r>
            <a:r>
              <a:rPr lang="en-US"/>
              <a:t>, and keep on coming for more.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3515d86f40_2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3515d86f40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Jad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3515d86f40_2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3515d86f40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Tenzin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35175fd3e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Luke</a:t>
            </a:r>
            <a:endParaRPr/>
          </a:p>
        </p:txBody>
      </p:sp>
      <p:sp>
        <p:nvSpPr>
          <p:cNvPr id="247" name="Google Shape;247;g335175fd3e5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37be165d3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Luke</a:t>
            </a:r>
            <a:endParaRPr/>
          </a:p>
        </p:txBody>
      </p:sp>
      <p:sp>
        <p:nvSpPr>
          <p:cNvPr id="253" name="Google Shape;253;g337be165d39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37433811c4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Luke</a:t>
            </a:r>
            <a:endParaRPr/>
          </a:p>
        </p:txBody>
      </p:sp>
      <p:sp>
        <p:nvSpPr>
          <p:cNvPr id="261" name="Google Shape;261;g337433811c4_0_1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35175fd3e5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Luke</a:t>
            </a:r>
            <a:endParaRPr/>
          </a:p>
        </p:txBody>
      </p:sp>
      <p:sp>
        <p:nvSpPr>
          <p:cNvPr id="270" name="Google Shape;270;g335175fd3e5_2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Luke</a:t>
            </a:r>
            <a:endParaRPr/>
          </a:p>
        </p:txBody>
      </p:sp>
      <p:sp>
        <p:nvSpPr>
          <p:cNvPr id="277" name="Google Shape;277;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Tenzin</a:t>
            </a:r>
            <a:endParaRPr/>
          </a:p>
        </p:txBody>
      </p:sp>
      <p:sp>
        <p:nvSpPr>
          <p:cNvPr id="302" name="Google Shape;3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Tenzin</a:t>
            </a:r>
            <a:endParaRPr/>
          </a:p>
        </p:txBody>
      </p:sp>
      <p:sp>
        <p:nvSpPr>
          <p:cNvPr id="308" name="Google Shape;30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351c4f4d4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Tenzin</a:t>
            </a:r>
            <a:endParaRPr/>
          </a:p>
        </p:txBody>
      </p:sp>
      <p:sp>
        <p:nvSpPr>
          <p:cNvPr id="316" name="Google Shape;316;g3351c4f4d48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37433811c4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Kalsang</a:t>
            </a:r>
            <a:endParaRPr/>
          </a:p>
        </p:txBody>
      </p:sp>
      <p:sp>
        <p:nvSpPr>
          <p:cNvPr id="325" name="Google Shape;325;g337433811c4_1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Kalsang</a:t>
            </a:r>
            <a:endParaRPr/>
          </a:p>
        </p:txBody>
      </p:sp>
      <p:sp>
        <p:nvSpPr>
          <p:cNvPr id="333" name="Google Shape;33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pic>
        <p:nvPicPr>
          <p:cNvPr id="16" name="Google Shape;16;p3"/>
          <p:cNvPicPr preferRelativeResize="0"/>
          <p:nvPr/>
        </p:nvPicPr>
        <p:blipFill>
          <a:blip r:embed="rId2">
            <a:alphaModFix/>
          </a:blip>
          <a:stretch>
            <a:fillRect/>
          </a:stretch>
        </p:blipFill>
        <p:spPr>
          <a:xfrm>
            <a:off x="-906550" y="-1939150"/>
            <a:ext cx="22441723" cy="1700661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ne" type="obj">
  <p:cSld name="OBJECT">
    <p:bg>
      <p:bgPr>
        <a:gradFill>
          <a:gsLst>
            <a:gs pos="0">
              <a:srgbClr val="FF3131"/>
            </a:gs>
            <a:gs pos="100000">
              <a:srgbClr val="FF914D"/>
            </a:gs>
          </a:gsLst>
          <a:lin ang="2698631" scaled="0"/>
        </a:gradFill>
      </p:bgPr>
    </p:bg>
    <p:spTree>
      <p:nvGrpSpPr>
        <p:cNvPr id="17" name="Shape 17"/>
        <p:cNvGrpSpPr/>
        <p:nvPr/>
      </p:nvGrpSpPr>
      <p:grpSpPr>
        <a:xfrm>
          <a:off x="0" y="0"/>
          <a:ext cx="0" cy="0"/>
          <a:chOff x="0" y="0"/>
          <a:chExt cx="0" cy="0"/>
        </a:xfrm>
      </p:grpSpPr>
      <p:pic>
        <p:nvPicPr>
          <p:cNvPr id="18" name="Google Shape;18;p4"/>
          <p:cNvPicPr preferRelativeResize="0"/>
          <p:nvPr/>
        </p:nvPicPr>
        <p:blipFill>
          <a:blip r:embed="rId2">
            <a:alphaModFix/>
          </a:blip>
          <a:stretch>
            <a:fillRect/>
          </a:stretch>
        </p:blipFill>
        <p:spPr>
          <a:xfrm>
            <a:off x="9605550" y="-798933"/>
            <a:ext cx="12325073" cy="12286882"/>
          </a:xfrm>
          <a:prstGeom prst="rect">
            <a:avLst/>
          </a:prstGeom>
          <a:noFill/>
          <a:ln>
            <a:noFill/>
          </a:ln>
        </p:spPr>
      </p:pic>
      <p:sp>
        <p:nvSpPr>
          <p:cNvPr id="19" name="Google Shape;19;p4"/>
          <p:cNvSpPr/>
          <p:nvPr>
            <p:ph idx="2" type="pic"/>
          </p:nvPr>
        </p:nvSpPr>
        <p:spPr>
          <a:xfrm>
            <a:off x="10934700" y="0"/>
            <a:ext cx="7353300" cy="102870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type="secHead">
  <p:cSld name="SECTION_HEADER">
    <p:bg>
      <p:bgPr>
        <a:gradFill>
          <a:gsLst>
            <a:gs pos="0">
              <a:srgbClr val="FF3131"/>
            </a:gs>
            <a:gs pos="100000">
              <a:srgbClr val="FF914D"/>
            </a:gs>
          </a:gsLst>
          <a:lin ang="2698631" scaled="0"/>
        </a:gradFill>
      </p:bgPr>
    </p:bg>
    <p:spTree>
      <p:nvGrpSpPr>
        <p:cNvPr id="20" name="Shape 20"/>
        <p:cNvGrpSpPr/>
        <p:nvPr/>
      </p:nvGrpSpPr>
      <p:grpSpPr>
        <a:xfrm>
          <a:off x="0" y="0"/>
          <a:ext cx="0" cy="0"/>
          <a:chOff x="0" y="0"/>
          <a:chExt cx="0" cy="0"/>
        </a:xfrm>
      </p:grpSpPr>
      <p:pic>
        <p:nvPicPr>
          <p:cNvPr id="21" name="Google Shape;21;p5"/>
          <p:cNvPicPr preferRelativeResize="0"/>
          <p:nvPr/>
        </p:nvPicPr>
        <p:blipFill>
          <a:blip r:embed="rId2">
            <a:alphaModFix/>
          </a:blip>
          <a:stretch>
            <a:fillRect/>
          </a:stretch>
        </p:blipFill>
        <p:spPr>
          <a:xfrm>
            <a:off x="11347151" y="-4916133"/>
            <a:ext cx="14233876" cy="14219981"/>
          </a:xfrm>
          <a:prstGeom prst="rect">
            <a:avLst/>
          </a:prstGeom>
          <a:noFill/>
          <a:ln>
            <a:noFill/>
          </a:ln>
        </p:spPr>
      </p:pic>
      <p:grpSp>
        <p:nvGrpSpPr>
          <p:cNvPr id="22" name="Google Shape;22;p5"/>
          <p:cNvGrpSpPr/>
          <p:nvPr/>
        </p:nvGrpSpPr>
        <p:grpSpPr>
          <a:xfrm>
            <a:off x="1047053" y="2779722"/>
            <a:ext cx="3793103" cy="6397017"/>
            <a:chOff x="0" y="-9525"/>
            <a:chExt cx="999000" cy="1684800"/>
          </a:xfrm>
        </p:grpSpPr>
        <p:sp>
          <p:nvSpPr>
            <p:cNvPr id="23" name="Google Shape;23;p5"/>
            <p:cNvSpPr/>
            <p:nvPr/>
          </p:nvSpPr>
          <p:spPr>
            <a:xfrm>
              <a:off x="0" y="0"/>
              <a:ext cx="998884" cy="1675238"/>
            </a:xfrm>
            <a:custGeom>
              <a:rect b="b" l="l" r="r" t="t"/>
              <a:pathLst>
                <a:path extrusionOk="0" h="1675238" w="998884">
                  <a:moveTo>
                    <a:pt x="0" y="0"/>
                  </a:moveTo>
                  <a:lnTo>
                    <a:pt x="998884" y="0"/>
                  </a:lnTo>
                  <a:lnTo>
                    <a:pt x="998884" y="1675238"/>
                  </a:lnTo>
                  <a:lnTo>
                    <a:pt x="0" y="1675238"/>
                  </a:lnTo>
                  <a:close/>
                </a:path>
              </a:pathLst>
            </a:custGeom>
            <a:solidFill>
              <a:srgbClr val="FFFFFF"/>
            </a:solidFill>
            <a:ln>
              <a:noFill/>
            </a:ln>
          </p:spPr>
        </p:sp>
        <p:sp>
          <p:nvSpPr>
            <p:cNvPr id="24" name="Google Shape;24;p5"/>
            <p:cNvSpPr txBox="1"/>
            <p:nvPr/>
          </p:nvSpPr>
          <p:spPr>
            <a:xfrm>
              <a:off x="0" y="-9525"/>
              <a:ext cx="999000" cy="16848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5" name="Google Shape;25;p5"/>
          <p:cNvCxnSpPr/>
          <p:nvPr/>
        </p:nvCxnSpPr>
        <p:spPr>
          <a:xfrm>
            <a:off x="1233028" y="4382053"/>
            <a:ext cx="3402300" cy="0"/>
          </a:xfrm>
          <a:prstGeom prst="straightConnector1">
            <a:avLst/>
          </a:prstGeom>
          <a:noFill/>
          <a:ln cap="flat" cmpd="sng" w="38100">
            <a:solidFill>
              <a:srgbClr val="FF3131"/>
            </a:solidFill>
            <a:prstDash val="solid"/>
            <a:round/>
            <a:headEnd len="sm" w="sm" type="none"/>
            <a:tailEnd len="sm" w="sm" type="none"/>
          </a:ln>
        </p:spPr>
      </p:cxnSp>
      <p:cxnSp>
        <p:nvCxnSpPr>
          <p:cNvPr id="26" name="Google Shape;26;p5"/>
          <p:cNvCxnSpPr/>
          <p:nvPr/>
        </p:nvCxnSpPr>
        <p:spPr>
          <a:xfrm>
            <a:off x="1233028" y="5975789"/>
            <a:ext cx="3402300" cy="0"/>
          </a:xfrm>
          <a:prstGeom prst="straightConnector1">
            <a:avLst/>
          </a:prstGeom>
          <a:noFill/>
          <a:ln cap="flat" cmpd="sng" w="38100">
            <a:solidFill>
              <a:srgbClr val="FF3131"/>
            </a:solidFill>
            <a:prstDash val="solid"/>
            <a:round/>
            <a:headEnd len="sm" w="sm" type="none"/>
            <a:tailEnd len="sm" w="sm" type="none"/>
          </a:ln>
        </p:spPr>
      </p:cxnSp>
      <p:cxnSp>
        <p:nvCxnSpPr>
          <p:cNvPr id="27" name="Google Shape;27;p5"/>
          <p:cNvCxnSpPr/>
          <p:nvPr/>
        </p:nvCxnSpPr>
        <p:spPr>
          <a:xfrm>
            <a:off x="1233028" y="7569525"/>
            <a:ext cx="3402300" cy="0"/>
          </a:xfrm>
          <a:prstGeom prst="straightConnector1">
            <a:avLst/>
          </a:prstGeom>
          <a:noFill/>
          <a:ln cap="flat" cmpd="sng" w="38100">
            <a:solidFill>
              <a:srgbClr val="FF3131"/>
            </a:solidFill>
            <a:prstDash val="solid"/>
            <a:round/>
            <a:headEnd len="sm" w="sm" type="none"/>
            <a:tailEnd len="sm" w="sm" type="none"/>
          </a:ln>
        </p:spPr>
      </p:cxnSp>
      <p:grpSp>
        <p:nvGrpSpPr>
          <p:cNvPr id="28" name="Google Shape;28;p5"/>
          <p:cNvGrpSpPr/>
          <p:nvPr/>
        </p:nvGrpSpPr>
        <p:grpSpPr>
          <a:xfrm>
            <a:off x="1047053" y="1251563"/>
            <a:ext cx="3793103" cy="1194884"/>
            <a:chOff x="0" y="-9525"/>
            <a:chExt cx="999000" cy="314700"/>
          </a:xfrm>
        </p:grpSpPr>
        <p:sp>
          <p:nvSpPr>
            <p:cNvPr id="29" name="Google Shape;29;p5"/>
            <p:cNvSpPr/>
            <p:nvPr/>
          </p:nvSpPr>
          <p:spPr>
            <a:xfrm>
              <a:off x="0" y="0"/>
              <a:ext cx="998884" cy="305066"/>
            </a:xfrm>
            <a:custGeom>
              <a:rect b="b" l="l" r="r" t="t"/>
              <a:pathLst>
                <a:path extrusionOk="0" h="305066" w="998884">
                  <a:moveTo>
                    <a:pt x="0" y="0"/>
                  </a:moveTo>
                  <a:lnTo>
                    <a:pt x="998884" y="0"/>
                  </a:lnTo>
                  <a:lnTo>
                    <a:pt x="998884" y="305066"/>
                  </a:lnTo>
                  <a:lnTo>
                    <a:pt x="0" y="305066"/>
                  </a:lnTo>
                  <a:close/>
                </a:path>
              </a:pathLst>
            </a:custGeom>
            <a:solidFill>
              <a:srgbClr val="FFFFFF"/>
            </a:solidFill>
            <a:ln>
              <a:noFill/>
            </a:ln>
          </p:spPr>
        </p:sp>
        <p:sp>
          <p:nvSpPr>
            <p:cNvPr id="30" name="Google Shape;30;p5"/>
            <p:cNvSpPr txBox="1"/>
            <p:nvPr/>
          </p:nvSpPr>
          <p:spPr>
            <a:xfrm>
              <a:off x="0" y="-9525"/>
              <a:ext cx="999000" cy="3147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 name="Google Shape;31;p5"/>
          <p:cNvGrpSpPr/>
          <p:nvPr/>
        </p:nvGrpSpPr>
        <p:grpSpPr>
          <a:xfrm>
            <a:off x="5147518" y="1251563"/>
            <a:ext cx="4393393" cy="1194884"/>
            <a:chOff x="0" y="-9525"/>
            <a:chExt cx="1157100" cy="314700"/>
          </a:xfrm>
        </p:grpSpPr>
        <p:sp>
          <p:nvSpPr>
            <p:cNvPr id="32" name="Google Shape;32;p5"/>
            <p:cNvSpPr/>
            <p:nvPr/>
          </p:nvSpPr>
          <p:spPr>
            <a:xfrm>
              <a:off x="0" y="0"/>
              <a:ext cx="1156956" cy="305066"/>
            </a:xfrm>
            <a:custGeom>
              <a:rect b="b" l="l" r="r" t="t"/>
              <a:pathLst>
                <a:path extrusionOk="0" h="305066" w="1156956">
                  <a:moveTo>
                    <a:pt x="0" y="0"/>
                  </a:moveTo>
                  <a:lnTo>
                    <a:pt x="1156956" y="0"/>
                  </a:lnTo>
                  <a:lnTo>
                    <a:pt x="1156956" y="305066"/>
                  </a:lnTo>
                  <a:lnTo>
                    <a:pt x="0" y="305066"/>
                  </a:lnTo>
                  <a:close/>
                </a:path>
              </a:pathLst>
            </a:custGeom>
            <a:solidFill>
              <a:srgbClr val="FFFFFF"/>
            </a:solidFill>
            <a:ln>
              <a:noFill/>
            </a:ln>
          </p:spPr>
        </p:sp>
        <p:sp>
          <p:nvSpPr>
            <p:cNvPr id="33" name="Google Shape;33;p5"/>
            <p:cNvSpPr txBox="1"/>
            <p:nvPr/>
          </p:nvSpPr>
          <p:spPr>
            <a:xfrm>
              <a:off x="0" y="-9525"/>
              <a:ext cx="1157100" cy="3147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 name="Google Shape;34;p5"/>
          <p:cNvGrpSpPr/>
          <p:nvPr/>
        </p:nvGrpSpPr>
        <p:grpSpPr>
          <a:xfrm>
            <a:off x="9859722" y="1251563"/>
            <a:ext cx="4393393" cy="1194884"/>
            <a:chOff x="0" y="-9525"/>
            <a:chExt cx="1157100" cy="314700"/>
          </a:xfrm>
        </p:grpSpPr>
        <p:sp>
          <p:nvSpPr>
            <p:cNvPr id="35" name="Google Shape;35;p5"/>
            <p:cNvSpPr/>
            <p:nvPr/>
          </p:nvSpPr>
          <p:spPr>
            <a:xfrm>
              <a:off x="0" y="0"/>
              <a:ext cx="1156956" cy="305066"/>
            </a:xfrm>
            <a:custGeom>
              <a:rect b="b" l="l" r="r" t="t"/>
              <a:pathLst>
                <a:path extrusionOk="0" h="305066" w="1156956">
                  <a:moveTo>
                    <a:pt x="0" y="0"/>
                  </a:moveTo>
                  <a:lnTo>
                    <a:pt x="1156956" y="0"/>
                  </a:lnTo>
                  <a:lnTo>
                    <a:pt x="1156956" y="305066"/>
                  </a:lnTo>
                  <a:lnTo>
                    <a:pt x="0" y="305066"/>
                  </a:lnTo>
                  <a:close/>
                </a:path>
              </a:pathLst>
            </a:custGeom>
            <a:solidFill>
              <a:srgbClr val="FFFFFF"/>
            </a:solidFill>
            <a:ln>
              <a:noFill/>
            </a:ln>
          </p:spPr>
        </p:sp>
        <p:sp>
          <p:nvSpPr>
            <p:cNvPr id="36" name="Google Shape;36;p5"/>
            <p:cNvSpPr txBox="1"/>
            <p:nvPr/>
          </p:nvSpPr>
          <p:spPr>
            <a:xfrm>
              <a:off x="0" y="-9525"/>
              <a:ext cx="1157100" cy="3147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 name="Google Shape;37;p5"/>
          <p:cNvGrpSpPr/>
          <p:nvPr/>
        </p:nvGrpSpPr>
        <p:grpSpPr>
          <a:xfrm>
            <a:off x="14576388" y="1251563"/>
            <a:ext cx="2682931" cy="1194884"/>
            <a:chOff x="0" y="-9525"/>
            <a:chExt cx="706611" cy="314700"/>
          </a:xfrm>
        </p:grpSpPr>
        <p:sp>
          <p:nvSpPr>
            <p:cNvPr id="38" name="Google Shape;38;p5"/>
            <p:cNvSpPr/>
            <p:nvPr/>
          </p:nvSpPr>
          <p:spPr>
            <a:xfrm>
              <a:off x="0" y="0"/>
              <a:ext cx="706611" cy="305066"/>
            </a:xfrm>
            <a:custGeom>
              <a:rect b="b" l="l" r="r" t="t"/>
              <a:pathLst>
                <a:path extrusionOk="0" h="305066" w="706611">
                  <a:moveTo>
                    <a:pt x="0" y="0"/>
                  </a:moveTo>
                  <a:lnTo>
                    <a:pt x="706611" y="0"/>
                  </a:lnTo>
                  <a:lnTo>
                    <a:pt x="706611" y="305066"/>
                  </a:lnTo>
                  <a:lnTo>
                    <a:pt x="0" y="305066"/>
                  </a:lnTo>
                  <a:close/>
                </a:path>
              </a:pathLst>
            </a:custGeom>
            <a:solidFill>
              <a:srgbClr val="FFFFFF"/>
            </a:solidFill>
            <a:ln>
              <a:noFill/>
            </a:ln>
          </p:spPr>
        </p:sp>
        <p:sp>
          <p:nvSpPr>
            <p:cNvPr id="39" name="Google Shape;39;p5"/>
            <p:cNvSpPr txBox="1"/>
            <p:nvPr/>
          </p:nvSpPr>
          <p:spPr>
            <a:xfrm>
              <a:off x="0" y="-9525"/>
              <a:ext cx="706500" cy="3147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 name="Google Shape;40;p5"/>
          <p:cNvGrpSpPr/>
          <p:nvPr/>
        </p:nvGrpSpPr>
        <p:grpSpPr>
          <a:xfrm>
            <a:off x="5147518" y="2779722"/>
            <a:ext cx="4393393" cy="6397017"/>
            <a:chOff x="0" y="-9525"/>
            <a:chExt cx="1157100" cy="1684800"/>
          </a:xfrm>
        </p:grpSpPr>
        <p:sp>
          <p:nvSpPr>
            <p:cNvPr id="41" name="Google Shape;41;p5"/>
            <p:cNvSpPr/>
            <p:nvPr/>
          </p:nvSpPr>
          <p:spPr>
            <a:xfrm>
              <a:off x="0" y="0"/>
              <a:ext cx="1156956" cy="1675238"/>
            </a:xfrm>
            <a:custGeom>
              <a:rect b="b" l="l" r="r" t="t"/>
              <a:pathLst>
                <a:path extrusionOk="0" h="1675238" w="1156956">
                  <a:moveTo>
                    <a:pt x="0" y="0"/>
                  </a:moveTo>
                  <a:lnTo>
                    <a:pt x="1156956" y="0"/>
                  </a:lnTo>
                  <a:lnTo>
                    <a:pt x="1156956" y="1675238"/>
                  </a:lnTo>
                  <a:lnTo>
                    <a:pt x="0" y="1675238"/>
                  </a:lnTo>
                  <a:close/>
                </a:path>
              </a:pathLst>
            </a:custGeom>
            <a:solidFill>
              <a:srgbClr val="FFFFFF"/>
            </a:solidFill>
            <a:ln>
              <a:noFill/>
            </a:ln>
          </p:spPr>
        </p:sp>
        <p:sp>
          <p:nvSpPr>
            <p:cNvPr id="42" name="Google Shape;42;p5"/>
            <p:cNvSpPr txBox="1"/>
            <p:nvPr/>
          </p:nvSpPr>
          <p:spPr>
            <a:xfrm>
              <a:off x="0" y="-9525"/>
              <a:ext cx="1157100" cy="16848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 name="Google Shape;43;p5"/>
          <p:cNvGrpSpPr/>
          <p:nvPr/>
        </p:nvGrpSpPr>
        <p:grpSpPr>
          <a:xfrm>
            <a:off x="9859722" y="2779722"/>
            <a:ext cx="4393393" cy="6397017"/>
            <a:chOff x="0" y="-9525"/>
            <a:chExt cx="1157100" cy="1684800"/>
          </a:xfrm>
        </p:grpSpPr>
        <p:sp>
          <p:nvSpPr>
            <p:cNvPr id="44" name="Google Shape;44;p5"/>
            <p:cNvSpPr/>
            <p:nvPr/>
          </p:nvSpPr>
          <p:spPr>
            <a:xfrm>
              <a:off x="0" y="0"/>
              <a:ext cx="1156956" cy="1675238"/>
            </a:xfrm>
            <a:custGeom>
              <a:rect b="b" l="l" r="r" t="t"/>
              <a:pathLst>
                <a:path extrusionOk="0" h="1675238" w="1156956">
                  <a:moveTo>
                    <a:pt x="0" y="0"/>
                  </a:moveTo>
                  <a:lnTo>
                    <a:pt x="1156956" y="0"/>
                  </a:lnTo>
                  <a:lnTo>
                    <a:pt x="1156956" y="1675238"/>
                  </a:lnTo>
                  <a:lnTo>
                    <a:pt x="0" y="1675238"/>
                  </a:lnTo>
                  <a:close/>
                </a:path>
              </a:pathLst>
            </a:custGeom>
            <a:solidFill>
              <a:srgbClr val="FFFFFF"/>
            </a:solidFill>
            <a:ln>
              <a:noFill/>
            </a:ln>
          </p:spPr>
        </p:sp>
        <p:sp>
          <p:nvSpPr>
            <p:cNvPr id="45" name="Google Shape;45;p5"/>
            <p:cNvSpPr txBox="1"/>
            <p:nvPr/>
          </p:nvSpPr>
          <p:spPr>
            <a:xfrm>
              <a:off x="0" y="-9525"/>
              <a:ext cx="1157100" cy="16848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 name="Google Shape;46;p5"/>
          <p:cNvGrpSpPr/>
          <p:nvPr/>
        </p:nvGrpSpPr>
        <p:grpSpPr>
          <a:xfrm>
            <a:off x="14576388" y="2779722"/>
            <a:ext cx="2682931" cy="6397017"/>
            <a:chOff x="0" y="-9525"/>
            <a:chExt cx="706611" cy="1684800"/>
          </a:xfrm>
        </p:grpSpPr>
        <p:sp>
          <p:nvSpPr>
            <p:cNvPr id="47" name="Google Shape;47;p5"/>
            <p:cNvSpPr/>
            <p:nvPr/>
          </p:nvSpPr>
          <p:spPr>
            <a:xfrm>
              <a:off x="0" y="0"/>
              <a:ext cx="706611" cy="1675238"/>
            </a:xfrm>
            <a:custGeom>
              <a:rect b="b" l="l" r="r" t="t"/>
              <a:pathLst>
                <a:path extrusionOk="0" h="1675238" w="706611">
                  <a:moveTo>
                    <a:pt x="0" y="0"/>
                  </a:moveTo>
                  <a:lnTo>
                    <a:pt x="706611" y="0"/>
                  </a:lnTo>
                  <a:lnTo>
                    <a:pt x="706611" y="1675238"/>
                  </a:lnTo>
                  <a:lnTo>
                    <a:pt x="0" y="1675238"/>
                  </a:lnTo>
                  <a:close/>
                </a:path>
              </a:pathLst>
            </a:custGeom>
            <a:solidFill>
              <a:srgbClr val="FFFFFF"/>
            </a:solidFill>
            <a:ln>
              <a:noFill/>
            </a:ln>
          </p:spPr>
        </p:sp>
        <p:sp>
          <p:nvSpPr>
            <p:cNvPr id="48" name="Google Shape;48;p5"/>
            <p:cNvSpPr txBox="1"/>
            <p:nvPr/>
          </p:nvSpPr>
          <p:spPr>
            <a:xfrm>
              <a:off x="0" y="-9525"/>
              <a:ext cx="706500" cy="16848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49" name="Google Shape;49;p5"/>
          <p:cNvCxnSpPr/>
          <p:nvPr/>
        </p:nvCxnSpPr>
        <p:spPr>
          <a:xfrm>
            <a:off x="5389491" y="4382053"/>
            <a:ext cx="3909000" cy="0"/>
          </a:xfrm>
          <a:prstGeom prst="straightConnector1">
            <a:avLst/>
          </a:prstGeom>
          <a:noFill/>
          <a:ln cap="flat" cmpd="sng" w="38100">
            <a:solidFill>
              <a:srgbClr val="FF3131"/>
            </a:solidFill>
            <a:prstDash val="solid"/>
            <a:round/>
            <a:headEnd len="sm" w="sm" type="none"/>
            <a:tailEnd len="sm" w="sm" type="none"/>
          </a:ln>
        </p:spPr>
      </p:cxnSp>
      <p:cxnSp>
        <p:nvCxnSpPr>
          <p:cNvPr id="50" name="Google Shape;50;p5"/>
          <p:cNvCxnSpPr/>
          <p:nvPr/>
        </p:nvCxnSpPr>
        <p:spPr>
          <a:xfrm>
            <a:off x="5389491" y="5975789"/>
            <a:ext cx="3909000" cy="0"/>
          </a:xfrm>
          <a:prstGeom prst="straightConnector1">
            <a:avLst/>
          </a:prstGeom>
          <a:noFill/>
          <a:ln cap="flat" cmpd="sng" w="38100">
            <a:solidFill>
              <a:srgbClr val="FF3131"/>
            </a:solidFill>
            <a:prstDash val="solid"/>
            <a:round/>
            <a:headEnd len="sm" w="sm" type="none"/>
            <a:tailEnd len="sm" w="sm" type="none"/>
          </a:ln>
        </p:spPr>
      </p:cxnSp>
      <p:cxnSp>
        <p:nvCxnSpPr>
          <p:cNvPr id="51" name="Google Shape;51;p5"/>
          <p:cNvCxnSpPr/>
          <p:nvPr/>
        </p:nvCxnSpPr>
        <p:spPr>
          <a:xfrm>
            <a:off x="5389491" y="7569525"/>
            <a:ext cx="3909000" cy="0"/>
          </a:xfrm>
          <a:prstGeom prst="straightConnector1">
            <a:avLst/>
          </a:prstGeom>
          <a:noFill/>
          <a:ln cap="flat" cmpd="sng" w="38100">
            <a:solidFill>
              <a:srgbClr val="FF3131"/>
            </a:solidFill>
            <a:prstDash val="solid"/>
            <a:round/>
            <a:headEnd len="sm" w="sm" type="none"/>
            <a:tailEnd len="sm" w="sm" type="none"/>
          </a:ln>
        </p:spPr>
      </p:cxnSp>
      <p:cxnSp>
        <p:nvCxnSpPr>
          <p:cNvPr id="52" name="Google Shape;52;p5"/>
          <p:cNvCxnSpPr/>
          <p:nvPr/>
        </p:nvCxnSpPr>
        <p:spPr>
          <a:xfrm>
            <a:off x="10101696" y="4382053"/>
            <a:ext cx="3909000" cy="0"/>
          </a:xfrm>
          <a:prstGeom prst="straightConnector1">
            <a:avLst/>
          </a:prstGeom>
          <a:noFill/>
          <a:ln cap="flat" cmpd="sng" w="38100">
            <a:solidFill>
              <a:srgbClr val="FF3131"/>
            </a:solidFill>
            <a:prstDash val="solid"/>
            <a:round/>
            <a:headEnd len="sm" w="sm" type="none"/>
            <a:tailEnd len="sm" w="sm" type="none"/>
          </a:ln>
        </p:spPr>
      </p:cxnSp>
      <p:cxnSp>
        <p:nvCxnSpPr>
          <p:cNvPr id="53" name="Google Shape;53;p5"/>
          <p:cNvCxnSpPr/>
          <p:nvPr/>
        </p:nvCxnSpPr>
        <p:spPr>
          <a:xfrm>
            <a:off x="10101696" y="5975789"/>
            <a:ext cx="3909000" cy="0"/>
          </a:xfrm>
          <a:prstGeom prst="straightConnector1">
            <a:avLst/>
          </a:prstGeom>
          <a:noFill/>
          <a:ln cap="flat" cmpd="sng" w="38100">
            <a:solidFill>
              <a:srgbClr val="FF3131"/>
            </a:solidFill>
            <a:prstDash val="solid"/>
            <a:round/>
            <a:headEnd len="sm" w="sm" type="none"/>
            <a:tailEnd len="sm" w="sm" type="none"/>
          </a:ln>
        </p:spPr>
      </p:cxnSp>
      <p:cxnSp>
        <p:nvCxnSpPr>
          <p:cNvPr id="54" name="Google Shape;54;p5"/>
          <p:cNvCxnSpPr/>
          <p:nvPr/>
        </p:nvCxnSpPr>
        <p:spPr>
          <a:xfrm>
            <a:off x="10101696" y="7569525"/>
            <a:ext cx="3909000" cy="0"/>
          </a:xfrm>
          <a:prstGeom prst="straightConnector1">
            <a:avLst/>
          </a:prstGeom>
          <a:noFill/>
          <a:ln cap="flat" cmpd="sng" w="38100">
            <a:solidFill>
              <a:srgbClr val="FF3131"/>
            </a:solidFill>
            <a:prstDash val="solid"/>
            <a:round/>
            <a:headEnd len="sm" w="sm" type="none"/>
            <a:tailEnd len="sm" w="sm" type="none"/>
          </a:ln>
        </p:spPr>
      </p:cxnSp>
      <p:cxnSp>
        <p:nvCxnSpPr>
          <p:cNvPr id="55" name="Google Shape;55;p5"/>
          <p:cNvCxnSpPr/>
          <p:nvPr/>
        </p:nvCxnSpPr>
        <p:spPr>
          <a:xfrm>
            <a:off x="14853166" y="4382053"/>
            <a:ext cx="2115000" cy="0"/>
          </a:xfrm>
          <a:prstGeom prst="straightConnector1">
            <a:avLst/>
          </a:prstGeom>
          <a:noFill/>
          <a:ln cap="flat" cmpd="sng" w="38100">
            <a:solidFill>
              <a:srgbClr val="FF3131"/>
            </a:solidFill>
            <a:prstDash val="solid"/>
            <a:round/>
            <a:headEnd len="sm" w="sm" type="none"/>
            <a:tailEnd len="sm" w="sm" type="none"/>
          </a:ln>
        </p:spPr>
      </p:cxnSp>
      <p:cxnSp>
        <p:nvCxnSpPr>
          <p:cNvPr id="56" name="Google Shape;56;p5"/>
          <p:cNvCxnSpPr/>
          <p:nvPr/>
        </p:nvCxnSpPr>
        <p:spPr>
          <a:xfrm>
            <a:off x="14853166" y="5975789"/>
            <a:ext cx="2115000" cy="0"/>
          </a:xfrm>
          <a:prstGeom prst="straightConnector1">
            <a:avLst/>
          </a:prstGeom>
          <a:noFill/>
          <a:ln cap="flat" cmpd="sng" w="38100">
            <a:solidFill>
              <a:srgbClr val="FF3131"/>
            </a:solidFill>
            <a:prstDash val="solid"/>
            <a:round/>
            <a:headEnd len="sm" w="sm" type="none"/>
            <a:tailEnd len="sm" w="sm" type="none"/>
          </a:ln>
        </p:spPr>
      </p:cxnSp>
      <p:cxnSp>
        <p:nvCxnSpPr>
          <p:cNvPr id="57" name="Google Shape;57;p5"/>
          <p:cNvCxnSpPr/>
          <p:nvPr/>
        </p:nvCxnSpPr>
        <p:spPr>
          <a:xfrm>
            <a:off x="14853166" y="7569525"/>
            <a:ext cx="2115000" cy="0"/>
          </a:xfrm>
          <a:prstGeom prst="straightConnector1">
            <a:avLst/>
          </a:prstGeom>
          <a:noFill/>
          <a:ln cap="flat" cmpd="sng" w="38100">
            <a:solidFill>
              <a:srgbClr val="FF313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type="twoObj">
  <p:cSld name="TWO_OBJECTS">
    <p:bg>
      <p:bgPr>
        <a:gradFill>
          <a:gsLst>
            <a:gs pos="0">
              <a:srgbClr val="FF3131"/>
            </a:gs>
            <a:gs pos="100000">
              <a:srgbClr val="FF914D"/>
            </a:gs>
          </a:gsLst>
          <a:lin ang="2698631" scaled="0"/>
        </a:gradFill>
      </p:bgPr>
    </p:bg>
    <p:spTree>
      <p:nvGrpSpPr>
        <p:cNvPr id="58" name="Shape 58"/>
        <p:cNvGrpSpPr/>
        <p:nvPr/>
      </p:nvGrpSpPr>
      <p:grpSpPr>
        <a:xfrm>
          <a:off x="0" y="0"/>
          <a:ext cx="0" cy="0"/>
          <a:chOff x="0" y="0"/>
          <a:chExt cx="0" cy="0"/>
        </a:xfrm>
      </p:grpSpPr>
      <p:sp>
        <p:nvSpPr>
          <p:cNvPr id="59" name="Google Shape;59;p6"/>
          <p:cNvSpPr/>
          <p:nvPr>
            <p:ph idx="2" type="pic"/>
          </p:nvPr>
        </p:nvSpPr>
        <p:spPr>
          <a:xfrm>
            <a:off x="6791450" y="1033050"/>
            <a:ext cx="5661900" cy="3927600"/>
          </a:xfrm>
          <a:prstGeom prst="rect">
            <a:avLst/>
          </a:prstGeom>
          <a:noFill/>
          <a:ln>
            <a:noFill/>
          </a:ln>
        </p:spPr>
      </p:sp>
      <p:sp>
        <p:nvSpPr>
          <p:cNvPr id="60" name="Google Shape;60;p6"/>
          <p:cNvSpPr/>
          <p:nvPr>
            <p:ph idx="3" type="pic"/>
          </p:nvPr>
        </p:nvSpPr>
        <p:spPr>
          <a:xfrm>
            <a:off x="11265300" y="5323725"/>
            <a:ext cx="5994000" cy="3927600"/>
          </a:xfrm>
          <a:prstGeom prst="rect">
            <a:avLst/>
          </a:prstGeom>
          <a:noFill/>
          <a:ln>
            <a:noFill/>
          </a:ln>
        </p:spPr>
      </p:sp>
      <p:sp>
        <p:nvSpPr>
          <p:cNvPr id="61" name="Google Shape;61;p6"/>
          <p:cNvSpPr/>
          <p:nvPr>
            <p:ph idx="4" type="pic"/>
          </p:nvPr>
        </p:nvSpPr>
        <p:spPr>
          <a:xfrm>
            <a:off x="12805225" y="1033050"/>
            <a:ext cx="4454100" cy="3927600"/>
          </a:xfrm>
          <a:prstGeom prst="rect">
            <a:avLst/>
          </a:prstGeom>
          <a:noFill/>
          <a:ln>
            <a:noFill/>
          </a:ln>
        </p:spPr>
      </p:sp>
      <p:sp>
        <p:nvSpPr>
          <p:cNvPr id="62" name="Google Shape;62;p6"/>
          <p:cNvSpPr/>
          <p:nvPr>
            <p:ph idx="5" type="pic"/>
          </p:nvPr>
        </p:nvSpPr>
        <p:spPr>
          <a:xfrm>
            <a:off x="6791450" y="5323725"/>
            <a:ext cx="4164600" cy="3927600"/>
          </a:xfrm>
          <a:prstGeom prst="rect">
            <a:avLst/>
          </a:prstGeom>
          <a:noFill/>
          <a:ln>
            <a:noFill/>
          </a:ln>
        </p:spPr>
      </p:sp>
      <p:sp>
        <p:nvSpPr>
          <p:cNvPr id="63" name="Google Shape;63;p6"/>
          <p:cNvSpPr/>
          <p:nvPr>
            <p:ph idx="6" type="pic"/>
          </p:nvPr>
        </p:nvSpPr>
        <p:spPr>
          <a:xfrm>
            <a:off x="946050" y="1028700"/>
            <a:ext cx="5493300" cy="82209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DM Sans"/>
              <a:buNone/>
              <a:defRPr i="0" sz="4400" u="none" cap="none" strike="noStrike">
                <a:solidFill>
                  <a:schemeClr val="dk1"/>
                </a:solidFill>
                <a:latin typeface="DM Sans"/>
                <a:ea typeface="DM Sans"/>
                <a:cs typeface="DM Sans"/>
                <a:sym typeface="DM Sans"/>
              </a:defRPr>
            </a:lvl1pPr>
            <a:lvl2pPr lvl="1">
              <a:spcBef>
                <a:spcPts val="0"/>
              </a:spcBef>
              <a:spcAft>
                <a:spcPts val="0"/>
              </a:spcAft>
              <a:buSzPts val="1400"/>
              <a:buFont typeface="DM Sans"/>
              <a:buNone/>
              <a:defRPr sz="1800">
                <a:latin typeface="DM Sans"/>
                <a:ea typeface="DM Sans"/>
                <a:cs typeface="DM Sans"/>
                <a:sym typeface="DM Sans"/>
              </a:defRPr>
            </a:lvl2pPr>
            <a:lvl3pPr lvl="2">
              <a:spcBef>
                <a:spcPts val="0"/>
              </a:spcBef>
              <a:spcAft>
                <a:spcPts val="0"/>
              </a:spcAft>
              <a:buSzPts val="1400"/>
              <a:buFont typeface="DM Sans"/>
              <a:buNone/>
              <a:defRPr sz="1800">
                <a:latin typeface="DM Sans"/>
                <a:ea typeface="DM Sans"/>
                <a:cs typeface="DM Sans"/>
                <a:sym typeface="DM Sans"/>
              </a:defRPr>
            </a:lvl3pPr>
            <a:lvl4pPr lvl="3">
              <a:spcBef>
                <a:spcPts val="0"/>
              </a:spcBef>
              <a:spcAft>
                <a:spcPts val="0"/>
              </a:spcAft>
              <a:buSzPts val="1400"/>
              <a:buFont typeface="DM Sans"/>
              <a:buNone/>
              <a:defRPr sz="1800">
                <a:latin typeface="DM Sans"/>
                <a:ea typeface="DM Sans"/>
                <a:cs typeface="DM Sans"/>
                <a:sym typeface="DM Sans"/>
              </a:defRPr>
            </a:lvl4pPr>
            <a:lvl5pPr lvl="4">
              <a:spcBef>
                <a:spcPts val="0"/>
              </a:spcBef>
              <a:spcAft>
                <a:spcPts val="0"/>
              </a:spcAft>
              <a:buSzPts val="1400"/>
              <a:buFont typeface="DM Sans"/>
              <a:buNone/>
              <a:defRPr sz="1800">
                <a:latin typeface="DM Sans"/>
                <a:ea typeface="DM Sans"/>
                <a:cs typeface="DM Sans"/>
                <a:sym typeface="DM Sans"/>
              </a:defRPr>
            </a:lvl5pPr>
            <a:lvl6pPr lvl="5">
              <a:spcBef>
                <a:spcPts val="0"/>
              </a:spcBef>
              <a:spcAft>
                <a:spcPts val="0"/>
              </a:spcAft>
              <a:buSzPts val="1400"/>
              <a:buFont typeface="DM Sans"/>
              <a:buNone/>
              <a:defRPr sz="1800">
                <a:latin typeface="DM Sans"/>
                <a:ea typeface="DM Sans"/>
                <a:cs typeface="DM Sans"/>
                <a:sym typeface="DM Sans"/>
              </a:defRPr>
            </a:lvl6pPr>
            <a:lvl7pPr lvl="6">
              <a:spcBef>
                <a:spcPts val="0"/>
              </a:spcBef>
              <a:spcAft>
                <a:spcPts val="0"/>
              </a:spcAft>
              <a:buSzPts val="1400"/>
              <a:buFont typeface="DM Sans"/>
              <a:buNone/>
              <a:defRPr sz="1800">
                <a:latin typeface="DM Sans"/>
                <a:ea typeface="DM Sans"/>
                <a:cs typeface="DM Sans"/>
                <a:sym typeface="DM Sans"/>
              </a:defRPr>
            </a:lvl7pPr>
            <a:lvl8pPr lvl="7">
              <a:spcBef>
                <a:spcPts val="0"/>
              </a:spcBef>
              <a:spcAft>
                <a:spcPts val="0"/>
              </a:spcAft>
              <a:buSzPts val="1400"/>
              <a:buFont typeface="DM Sans"/>
              <a:buNone/>
              <a:defRPr sz="1800">
                <a:latin typeface="DM Sans"/>
                <a:ea typeface="DM Sans"/>
                <a:cs typeface="DM Sans"/>
                <a:sym typeface="DM Sans"/>
              </a:defRPr>
            </a:lvl8pPr>
            <a:lvl9pPr lvl="8">
              <a:spcBef>
                <a:spcPts val="0"/>
              </a:spcBef>
              <a:spcAft>
                <a:spcPts val="0"/>
              </a:spcAft>
              <a:buSzPts val="1400"/>
              <a:buFont typeface="DM Sans"/>
              <a:buNone/>
              <a:defRPr sz="1800">
                <a:latin typeface="DM Sans"/>
                <a:ea typeface="DM Sans"/>
                <a:cs typeface="DM Sans"/>
                <a:sym typeface="DM Sans"/>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DM Sans"/>
              <a:buChar char="•"/>
              <a:defRPr i="0" sz="3200" u="none" cap="none" strike="noStrike">
                <a:solidFill>
                  <a:schemeClr val="dk1"/>
                </a:solidFill>
                <a:latin typeface="DM Sans"/>
                <a:ea typeface="DM Sans"/>
                <a:cs typeface="DM Sans"/>
                <a:sym typeface="DM Sans"/>
              </a:defRPr>
            </a:lvl1pPr>
            <a:lvl2pPr indent="-406400" lvl="1" marL="914400" marR="0" rtl="0" algn="l">
              <a:spcBef>
                <a:spcPts val="560"/>
              </a:spcBef>
              <a:spcAft>
                <a:spcPts val="0"/>
              </a:spcAft>
              <a:buClr>
                <a:schemeClr val="dk1"/>
              </a:buClr>
              <a:buSzPts val="2800"/>
              <a:buFont typeface="DM Sans"/>
              <a:buChar char="–"/>
              <a:defRPr i="0" sz="2800" u="none" cap="none" strike="noStrike">
                <a:solidFill>
                  <a:schemeClr val="dk1"/>
                </a:solidFill>
                <a:latin typeface="DM Sans"/>
                <a:ea typeface="DM Sans"/>
                <a:cs typeface="DM Sans"/>
                <a:sym typeface="DM Sans"/>
              </a:defRPr>
            </a:lvl2pPr>
            <a:lvl3pPr indent="-381000" lvl="2" marL="1371600" marR="0" rtl="0" algn="l">
              <a:spcBef>
                <a:spcPts val="480"/>
              </a:spcBef>
              <a:spcAft>
                <a:spcPts val="0"/>
              </a:spcAft>
              <a:buClr>
                <a:schemeClr val="dk1"/>
              </a:buClr>
              <a:buSzPts val="2400"/>
              <a:buFont typeface="DM Sans"/>
              <a:buChar char="•"/>
              <a:defRPr i="0" sz="2400" u="none" cap="none" strike="noStrike">
                <a:solidFill>
                  <a:schemeClr val="dk1"/>
                </a:solidFill>
                <a:latin typeface="DM Sans"/>
                <a:ea typeface="DM Sans"/>
                <a:cs typeface="DM Sans"/>
                <a:sym typeface="DM Sans"/>
              </a:defRPr>
            </a:lvl3pPr>
            <a:lvl4pPr indent="-355600" lvl="3" marL="1828800" marR="0" rtl="0" algn="l">
              <a:spcBef>
                <a:spcPts val="4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4pPr>
            <a:lvl5pPr indent="-355600" lvl="4" marL="2286000" marR="0" rtl="0" algn="l">
              <a:spcBef>
                <a:spcPts val="4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5pPr>
            <a:lvl6pPr indent="-355600" lvl="5" marL="2743200" marR="0" rtl="0" algn="l">
              <a:spcBef>
                <a:spcPts val="4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6pPr>
            <a:lvl7pPr indent="-355600" lvl="6" marL="3200400" marR="0" rtl="0" algn="l">
              <a:spcBef>
                <a:spcPts val="4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7pPr>
            <a:lvl8pPr indent="-355600" lvl="7" marL="3657600" marR="0" rtl="0" algn="l">
              <a:spcBef>
                <a:spcPts val="4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8pPr>
            <a:lvl9pPr indent="-355600" lvl="8" marL="4114800" marR="0" rtl="0" algn="l">
              <a:spcBef>
                <a:spcPts val="4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0" scaled="0"/>
        </a:gradFill>
      </p:bgPr>
    </p:bg>
    <p:spTree>
      <p:nvGrpSpPr>
        <p:cNvPr id="67" name="Shape 67"/>
        <p:cNvGrpSpPr/>
        <p:nvPr/>
      </p:nvGrpSpPr>
      <p:grpSpPr>
        <a:xfrm>
          <a:off x="0" y="0"/>
          <a:ext cx="0" cy="0"/>
          <a:chOff x="0" y="0"/>
          <a:chExt cx="0" cy="0"/>
        </a:xfrm>
      </p:grpSpPr>
      <p:pic>
        <p:nvPicPr>
          <p:cNvPr id="68" name="Google Shape;68;p7"/>
          <p:cNvPicPr preferRelativeResize="0"/>
          <p:nvPr/>
        </p:nvPicPr>
        <p:blipFill>
          <a:blip r:embed="rId3">
            <a:alphaModFix/>
          </a:blip>
          <a:stretch>
            <a:fillRect/>
          </a:stretch>
        </p:blipFill>
        <p:spPr>
          <a:xfrm>
            <a:off x="-8688867" y="-5967825"/>
            <a:ext cx="29715794" cy="21532376"/>
          </a:xfrm>
          <a:prstGeom prst="rect">
            <a:avLst/>
          </a:prstGeom>
          <a:noFill/>
          <a:ln>
            <a:noFill/>
          </a:ln>
        </p:spPr>
      </p:pic>
      <p:sp>
        <p:nvSpPr>
          <p:cNvPr id="69" name="Google Shape;69;p7"/>
          <p:cNvSpPr txBox="1"/>
          <p:nvPr/>
        </p:nvSpPr>
        <p:spPr>
          <a:xfrm>
            <a:off x="1028700" y="3896995"/>
            <a:ext cx="10528500" cy="18963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10400">
                <a:solidFill>
                  <a:srgbClr val="FFFFFF"/>
                </a:solidFill>
                <a:latin typeface="DM Sans"/>
                <a:ea typeface="DM Sans"/>
                <a:cs typeface="DM Sans"/>
                <a:sym typeface="DM Sans"/>
              </a:rPr>
              <a:t>LuxeMod</a:t>
            </a:r>
            <a:endParaRPr b="1" sz="10400">
              <a:solidFill>
                <a:srgbClr val="FFFFFF"/>
              </a:solidFill>
              <a:latin typeface="DM Sans"/>
              <a:ea typeface="DM Sans"/>
              <a:cs typeface="DM Sans"/>
              <a:sym typeface="DM Sans"/>
            </a:endParaRPr>
          </a:p>
          <a:p>
            <a:pPr indent="0" lvl="0" marL="0" marR="0" rtl="0" algn="l">
              <a:lnSpc>
                <a:spcPct val="80000"/>
              </a:lnSpc>
              <a:spcBef>
                <a:spcPts val="0"/>
              </a:spcBef>
              <a:spcAft>
                <a:spcPts val="0"/>
              </a:spcAft>
              <a:buNone/>
            </a:pPr>
            <a:r>
              <a:rPr b="1" lang="en-US" sz="5000">
                <a:solidFill>
                  <a:srgbClr val="FFFFFF"/>
                </a:solidFill>
                <a:latin typeface="DM Sans"/>
                <a:ea typeface="DM Sans"/>
                <a:cs typeface="DM Sans"/>
                <a:sym typeface="DM Sans"/>
              </a:rPr>
              <a:t>Insights &amp; </a:t>
            </a:r>
            <a:r>
              <a:rPr b="1" lang="en-US" sz="5000">
                <a:solidFill>
                  <a:srgbClr val="FFFFFF"/>
                </a:solidFill>
                <a:latin typeface="DM Sans"/>
                <a:ea typeface="DM Sans"/>
                <a:cs typeface="DM Sans"/>
                <a:sym typeface="DM Sans"/>
              </a:rPr>
              <a:t>Recommendations</a:t>
            </a:r>
            <a:endParaRPr b="1" sz="5000">
              <a:solidFill>
                <a:srgbClr val="FFFFFF"/>
              </a:solidFill>
              <a:latin typeface="DM Sans"/>
              <a:ea typeface="DM Sans"/>
              <a:cs typeface="DM Sans"/>
              <a:sym typeface="DM Sans"/>
            </a:endParaRPr>
          </a:p>
        </p:txBody>
      </p:sp>
      <p:sp>
        <p:nvSpPr>
          <p:cNvPr id="70" name="Google Shape;70;p7"/>
          <p:cNvSpPr txBox="1"/>
          <p:nvPr/>
        </p:nvSpPr>
        <p:spPr>
          <a:xfrm>
            <a:off x="1028700" y="6112575"/>
            <a:ext cx="10007100" cy="7851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None/>
            </a:pPr>
            <a:r>
              <a:rPr b="1" lang="en-US" sz="2500">
                <a:solidFill>
                  <a:schemeClr val="lt1"/>
                </a:solidFill>
                <a:latin typeface="DM Sans"/>
                <a:ea typeface="DM Sans"/>
                <a:cs typeface="DM Sans"/>
                <a:sym typeface="DM Sans"/>
              </a:rPr>
              <a:t>GCOM 7140 — Customer Analytics</a:t>
            </a:r>
            <a:endParaRPr b="1" sz="2500">
              <a:solidFill>
                <a:schemeClr val="lt1"/>
              </a:solidFill>
              <a:latin typeface="DM Sans"/>
              <a:ea typeface="DM Sans"/>
              <a:cs typeface="DM Sans"/>
              <a:sym typeface="DM Sans"/>
            </a:endParaRPr>
          </a:p>
          <a:p>
            <a:pPr indent="0" lvl="0" marL="0" rtl="0" algn="l">
              <a:lnSpc>
                <a:spcPct val="120000"/>
              </a:lnSpc>
              <a:spcBef>
                <a:spcPts val="0"/>
              </a:spcBef>
              <a:spcAft>
                <a:spcPts val="0"/>
              </a:spcAft>
              <a:buNone/>
            </a:pPr>
            <a:r>
              <a:rPr b="1" lang="en-US" sz="2100">
                <a:solidFill>
                  <a:schemeClr val="lt1"/>
                </a:solidFill>
                <a:latin typeface="DM Sans"/>
                <a:ea typeface="DM Sans"/>
                <a:cs typeface="DM Sans"/>
                <a:sym typeface="DM Sans"/>
              </a:rPr>
              <a:t>By:</a:t>
            </a:r>
            <a:r>
              <a:rPr lang="en-US" sz="2100">
                <a:solidFill>
                  <a:schemeClr val="lt1"/>
                </a:solidFill>
                <a:latin typeface="DM Sans"/>
                <a:ea typeface="DM Sans"/>
                <a:cs typeface="DM Sans"/>
                <a:sym typeface="DM Sans"/>
              </a:rPr>
              <a:t> Enmanuel Baez, Tenzin Lodoe, Jad Shaheen, Luke Sherrill, and Kalsang Tseten</a:t>
            </a:r>
            <a:endParaRPr b="1" sz="2500">
              <a:solidFill>
                <a:schemeClr val="lt1"/>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0" scaled="0"/>
        </a:gradFill>
      </p:bgPr>
    </p:bg>
    <p:spTree>
      <p:nvGrpSpPr>
        <p:cNvPr id="74" name="Shape 74"/>
        <p:cNvGrpSpPr/>
        <p:nvPr/>
      </p:nvGrpSpPr>
      <p:grpSpPr>
        <a:xfrm>
          <a:off x="0" y="0"/>
          <a:ext cx="0" cy="0"/>
          <a:chOff x="0" y="0"/>
          <a:chExt cx="0" cy="0"/>
        </a:xfrm>
      </p:grpSpPr>
      <p:sp>
        <p:nvSpPr>
          <p:cNvPr id="75" name="Google Shape;75;p8"/>
          <p:cNvSpPr txBox="1"/>
          <p:nvPr/>
        </p:nvSpPr>
        <p:spPr>
          <a:xfrm>
            <a:off x="1028700" y="2646575"/>
            <a:ext cx="8688600" cy="7067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3600">
                <a:solidFill>
                  <a:srgbClr val="FFFFFF"/>
                </a:solidFill>
                <a:latin typeface="DM Sans"/>
                <a:ea typeface="DM Sans"/>
                <a:cs typeface="DM Sans"/>
                <a:sym typeface="DM Sans"/>
              </a:rPr>
              <a:t>Company Overview:</a:t>
            </a:r>
            <a:endParaRPr b="1" sz="3600">
              <a:solidFill>
                <a:srgbClr val="FFFFFF"/>
              </a:solidFill>
              <a:latin typeface="DM Sans"/>
              <a:ea typeface="DM Sans"/>
              <a:cs typeface="DM Sans"/>
              <a:sym typeface="DM Sans"/>
            </a:endParaRPr>
          </a:p>
          <a:p>
            <a:pPr indent="-361950" lvl="0" marL="457200" marR="0" rtl="0" algn="l">
              <a:lnSpc>
                <a:spcPct val="115000"/>
              </a:lnSpc>
              <a:spcBef>
                <a:spcPts val="0"/>
              </a:spcBef>
              <a:spcAft>
                <a:spcPts val="0"/>
              </a:spcAft>
              <a:buClr>
                <a:srgbClr val="FFFFFF"/>
              </a:buClr>
              <a:buSzPts val="2100"/>
              <a:buFont typeface="DM Sans"/>
              <a:buChar char="●"/>
            </a:pPr>
            <a:r>
              <a:rPr lang="en-US" sz="2100">
                <a:solidFill>
                  <a:srgbClr val="FFFFFF"/>
                </a:solidFill>
                <a:latin typeface="DM Sans"/>
                <a:ea typeface="DM Sans"/>
                <a:cs typeface="DM Sans"/>
                <a:sym typeface="DM Sans"/>
              </a:rPr>
              <a:t>Digital-first furniture retailer for young professionals and families</a:t>
            </a:r>
            <a:endParaRPr sz="2100">
              <a:solidFill>
                <a:srgbClr val="FFFFFF"/>
              </a:solidFill>
              <a:latin typeface="DM Sans"/>
              <a:ea typeface="DM Sans"/>
              <a:cs typeface="DM Sans"/>
              <a:sym typeface="DM Sans"/>
            </a:endParaRPr>
          </a:p>
          <a:p>
            <a:pPr indent="-361950" lvl="0" marL="457200" marR="0" rtl="0" algn="l">
              <a:lnSpc>
                <a:spcPct val="115000"/>
              </a:lnSpc>
              <a:spcBef>
                <a:spcPts val="0"/>
              </a:spcBef>
              <a:spcAft>
                <a:spcPts val="0"/>
              </a:spcAft>
              <a:buClr>
                <a:srgbClr val="FFFFFF"/>
              </a:buClr>
              <a:buSzPts val="2100"/>
              <a:buFont typeface="DM Sans"/>
              <a:buChar char="●"/>
            </a:pPr>
            <a:r>
              <a:rPr lang="en-US" sz="2100">
                <a:solidFill>
                  <a:srgbClr val="FFFFFF"/>
                </a:solidFill>
                <a:latin typeface="DM Sans"/>
                <a:ea typeface="DM Sans"/>
                <a:cs typeface="DM Sans"/>
                <a:sym typeface="DM Sans"/>
              </a:rPr>
              <a:t>Focus on modern/modular designs for urban living spaces</a:t>
            </a:r>
            <a:endParaRPr sz="2100">
              <a:solidFill>
                <a:srgbClr val="FFFFFF"/>
              </a:solidFill>
              <a:latin typeface="DM Sans"/>
              <a:ea typeface="DM Sans"/>
              <a:cs typeface="DM Sans"/>
              <a:sym typeface="DM Sans"/>
            </a:endParaRPr>
          </a:p>
          <a:p>
            <a:pPr indent="-317500" lvl="1" marL="914400" marR="0" rtl="0" algn="l">
              <a:lnSpc>
                <a:spcPct val="115000"/>
              </a:lnSpc>
              <a:spcBef>
                <a:spcPts val="0"/>
              </a:spcBef>
              <a:spcAft>
                <a:spcPts val="0"/>
              </a:spcAft>
              <a:buClr>
                <a:srgbClr val="FFFFFF"/>
              </a:buClr>
              <a:buSzPts val="1400"/>
              <a:buFont typeface="DM Sans"/>
              <a:buChar char="○"/>
            </a:pPr>
            <a:r>
              <a:rPr lang="en-US" sz="2100">
                <a:solidFill>
                  <a:srgbClr val="FFFFFF"/>
                </a:solidFill>
                <a:latin typeface="DM Sans"/>
                <a:ea typeface="DM Sans"/>
                <a:cs typeface="DM Sans"/>
                <a:sym typeface="DM Sans"/>
              </a:rPr>
              <a:t>Emphasis on pieces that serve multiple functions</a:t>
            </a:r>
            <a:endParaRPr sz="2100">
              <a:solidFill>
                <a:srgbClr val="FFFFFF"/>
              </a:solidFill>
              <a:latin typeface="DM Sans"/>
              <a:ea typeface="DM Sans"/>
              <a:cs typeface="DM Sans"/>
              <a:sym typeface="DM Sans"/>
            </a:endParaRPr>
          </a:p>
          <a:p>
            <a:pPr indent="-361950" lvl="0" marL="457200" rtl="0" algn="l">
              <a:lnSpc>
                <a:spcPct val="115000"/>
              </a:lnSpc>
              <a:spcBef>
                <a:spcPts val="0"/>
              </a:spcBef>
              <a:spcAft>
                <a:spcPts val="0"/>
              </a:spcAft>
              <a:buClr>
                <a:schemeClr val="lt1"/>
              </a:buClr>
              <a:buSzPts val="2100"/>
              <a:buFont typeface="DM Sans"/>
              <a:buChar char="●"/>
            </a:pPr>
            <a:r>
              <a:rPr lang="en-US" sz="2100">
                <a:solidFill>
                  <a:schemeClr val="lt1"/>
                </a:solidFill>
                <a:latin typeface="DM Sans"/>
                <a:ea typeface="DM Sans"/>
                <a:cs typeface="DM Sans"/>
                <a:sym typeface="DM Sans"/>
              </a:rPr>
              <a:t>Product lines cover main interior rooms (bedroom, bathroom, etc.)</a:t>
            </a:r>
            <a:endParaRPr sz="2100">
              <a:solidFill>
                <a:srgbClr val="FFFFFF"/>
              </a:solidFill>
              <a:latin typeface="DM Sans"/>
              <a:ea typeface="DM Sans"/>
              <a:cs typeface="DM Sans"/>
              <a:sym typeface="DM Sans"/>
            </a:endParaRPr>
          </a:p>
          <a:p>
            <a:pPr indent="0" lvl="0" marL="0" marR="0" rtl="0" algn="l">
              <a:lnSpc>
                <a:spcPct val="115000"/>
              </a:lnSpc>
              <a:spcBef>
                <a:spcPts val="0"/>
              </a:spcBef>
              <a:spcAft>
                <a:spcPts val="0"/>
              </a:spcAft>
              <a:buNone/>
            </a:pPr>
            <a:r>
              <a:rPr b="1" lang="en-US" sz="3600">
                <a:solidFill>
                  <a:srgbClr val="FFFFFF"/>
                </a:solidFill>
                <a:latin typeface="DM Sans"/>
                <a:ea typeface="DM Sans"/>
                <a:cs typeface="DM Sans"/>
                <a:sym typeface="DM Sans"/>
              </a:rPr>
              <a:t>Business Problems:</a:t>
            </a:r>
            <a:endParaRPr b="1" sz="3600">
              <a:solidFill>
                <a:srgbClr val="FFFFFF"/>
              </a:solidFill>
              <a:latin typeface="DM Sans"/>
              <a:ea typeface="DM Sans"/>
              <a:cs typeface="DM Sans"/>
              <a:sym typeface="DM Sans"/>
            </a:endParaRPr>
          </a:p>
          <a:p>
            <a:pPr indent="-361950" lvl="0" marL="457200" marR="0" rtl="0" algn="l">
              <a:lnSpc>
                <a:spcPct val="115000"/>
              </a:lnSpc>
              <a:spcBef>
                <a:spcPts val="0"/>
              </a:spcBef>
              <a:spcAft>
                <a:spcPts val="0"/>
              </a:spcAft>
              <a:buClr>
                <a:srgbClr val="FFFFFF"/>
              </a:buClr>
              <a:buSzPts val="2100"/>
              <a:buFont typeface="DM Sans"/>
              <a:buChar char="●"/>
            </a:pPr>
            <a:r>
              <a:rPr lang="en-US" sz="2100">
                <a:solidFill>
                  <a:srgbClr val="FFFFFF"/>
                </a:solidFill>
                <a:latin typeface="DM Sans"/>
                <a:ea typeface="DM Sans"/>
                <a:cs typeface="DM Sans"/>
                <a:sym typeface="DM Sans"/>
              </a:rPr>
              <a:t>High cart abandonment rates</a:t>
            </a:r>
            <a:endParaRPr sz="2100">
              <a:solidFill>
                <a:srgbClr val="FFFFFF"/>
              </a:solidFill>
              <a:latin typeface="DM Sans"/>
              <a:ea typeface="DM Sans"/>
              <a:cs typeface="DM Sans"/>
              <a:sym typeface="DM Sans"/>
            </a:endParaRPr>
          </a:p>
          <a:p>
            <a:pPr indent="-361950" lvl="0" marL="457200" marR="0" rtl="0" algn="l">
              <a:lnSpc>
                <a:spcPct val="115000"/>
              </a:lnSpc>
              <a:spcBef>
                <a:spcPts val="0"/>
              </a:spcBef>
              <a:spcAft>
                <a:spcPts val="0"/>
              </a:spcAft>
              <a:buClr>
                <a:srgbClr val="FFFFFF"/>
              </a:buClr>
              <a:buSzPts val="2100"/>
              <a:buFont typeface="DM Sans"/>
              <a:buChar char="●"/>
            </a:pPr>
            <a:r>
              <a:rPr lang="en-US" sz="2100">
                <a:solidFill>
                  <a:srgbClr val="FFFFFF"/>
                </a:solidFill>
                <a:latin typeface="DM Sans"/>
                <a:ea typeface="DM Sans"/>
                <a:cs typeface="DM Sans"/>
                <a:sym typeface="DM Sans"/>
              </a:rPr>
              <a:t>Challenges with customer retention</a:t>
            </a:r>
            <a:endParaRPr sz="2100">
              <a:solidFill>
                <a:srgbClr val="FFFFFF"/>
              </a:solidFill>
              <a:latin typeface="DM Sans"/>
              <a:ea typeface="DM Sans"/>
              <a:cs typeface="DM Sans"/>
              <a:sym typeface="DM Sans"/>
            </a:endParaRPr>
          </a:p>
          <a:p>
            <a:pPr indent="-361950" lvl="0" marL="457200" marR="0" rtl="0" algn="l">
              <a:lnSpc>
                <a:spcPct val="115000"/>
              </a:lnSpc>
              <a:spcBef>
                <a:spcPts val="0"/>
              </a:spcBef>
              <a:spcAft>
                <a:spcPts val="0"/>
              </a:spcAft>
              <a:buClr>
                <a:srgbClr val="FFFFFF"/>
              </a:buClr>
              <a:buSzPts val="2100"/>
              <a:buFont typeface="DM Sans"/>
              <a:buChar char="●"/>
            </a:pPr>
            <a:r>
              <a:rPr lang="en-US" sz="2100">
                <a:solidFill>
                  <a:srgbClr val="FFFFFF"/>
                </a:solidFill>
                <a:latin typeface="DM Sans"/>
                <a:ea typeface="DM Sans"/>
                <a:cs typeface="DM Sans"/>
                <a:sym typeface="DM Sans"/>
              </a:rPr>
              <a:t>Inconsistent customer satisfaction scores</a:t>
            </a:r>
            <a:endParaRPr sz="2100">
              <a:solidFill>
                <a:srgbClr val="FFFFFF"/>
              </a:solidFill>
              <a:latin typeface="DM Sans"/>
              <a:ea typeface="DM Sans"/>
              <a:cs typeface="DM Sans"/>
              <a:sym typeface="DM Sans"/>
            </a:endParaRPr>
          </a:p>
          <a:p>
            <a:pPr indent="-361950" lvl="0" marL="457200" marR="0" rtl="0" algn="l">
              <a:lnSpc>
                <a:spcPct val="115000"/>
              </a:lnSpc>
              <a:spcBef>
                <a:spcPts val="0"/>
              </a:spcBef>
              <a:spcAft>
                <a:spcPts val="0"/>
              </a:spcAft>
              <a:buClr>
                <a:srgbClr val="FFFFFF"/>
              </a:buClr>
              <a:buSzPts val="2100"/>
              <a:buFont typeface="DM Sans"/>
              <a:buChar char="●"/>
            </a:pPr>
            <a:r>
              <a:rPr lang="en-US" sz="2100">
                <a:solidFill>
                  <a:srgbClr val="FFFFFF"/>
                </a:solidFill>
                <a:latin typeface="DM Sans"/>
                <a:ea typeface="DM Sans"/>
                <a:cs typeface="DM Sans"/>
                <a:sym typeface="DM Sans"/>
              </a:rPr>
              <a:t>Need to optimize marketing spending</a:t>
            </a:r>
            <a:endParaRPr sz="2100">
              <a:solidFill>
                <a:srgbClr val="FFFFFF"/>
              </a:solidFill>
              <a:latin typeface="DM Sans"/>
              <a:ea typeface="DM Sans"/>
              <a:cs typeface="DM Sans"/>
              <a:sym typeface="DM Sans"/>
            </a:endParaRPr>
          </a:p>
          <a:p>
            <a:pPr indent="0" lvl="0" marL="0" rtl="0" algn="l">
              <a:lnSpc>
                <a:spcPct val="115000"/>
              </a:lnSpc>
              <a:spcBef>
                <a:spcPts val="0"/>
              </a:spcBef>
              <a:spcAft>
                <a:spcPts val="0"/>
              </a:spcAft>
              <a:buClr>
                <a:schemeClr val="dk1"/>
              </a:buClr>
              <a:buFont typeface="Arial"/>
              <a:buNone/>
            </a:pPr>
            <a:r>
              <a:rPr b="1" lang="en-US" sz="3600">
                <a:solidFill>
                  <a:schemeClr val="lt1"/>
                </a:solidFill>
                <a:latin typeface="DM Sans"/>
                <a:ea typeface="DM Sans"/>
                <a:cs typeface="DM Sans"/>
                <a:sym typeface="DM Sans"/>
              </a:rPr>
              <a:t>Objective:</a:t>
            </a:r>
            <a:endParaRPr b="1" sz="3600">
              <a:solidFill>
                <a:schemeClr val="lt1"/>
              </a:solidFill>
              <a:latin typeface="DM Sans"/>
              <a:ea typeface="DM Sans"/>
              <a:cs typeface="DM Sans"/>
              <a:sym typeface="DM Sans"/>
            </a:endParaRPr>
          </a:p>
          <a:p>
            <a:pPr indent="-361950" lvl="0" marL="457200" rtl="0" algn="l">
              <a:lnSpc>
                <a:spcPct val="115000"/>
              </a:lnSpc>
              <a:spcBef>
                <a:spcPts val="0"/>
              </a:spcBef>
              <a:spcAft>
                <a:spcPts val="0"/>
              </a:spcAft>
              <a:buClr>
                <a:schemeClr val="lt1"/>
              </a:buClr>
              <a:buSzPts val="2100"/>
              <a:buFont typeface="DM Sans"/>
              <a:buChar char="●"/>
            </a:pPr>
            <a:r>
              <a:rPr lang="en-US" sz="2100">
                <a:solidFill>
                  <a:srgbClr val="FFFFFF"/>
                </a:solidFill>
                <a:latin typeface="DM Sans"/>
                <a:ea typeface="DM Sans"/>
                <a:cs typeface="DM Sans"/>
                <a:sym typeface="DM Sans"/>
              </a:rPr>
              <a:t>Analyze customer behavior, product category trends, and digital engagement metrics to uncover key insights</a:t>
            </a:r>
            <a:endParaRPr sz="2100">
              <a:solidFill>
                <a:srgbClr val="FFFFFF"/>
              </a:solidFill>
              <a:latin typeface="DM Sans"/>
              <a:ea typeface="DM Sans"/>
              <a:cs typeface="DM Sans"/>
              <a:sym typeface="DM Sans"/>
            </a:endParaRPr>
          </a:p>
          <a:p>
            <a:pPr indent="-361950" lvl="0" marL="457200" rtl="0" algn="l">
              <a:lnSpc>
                <a:spcPct val="115000"/>
              </a:lnSpc>
              <a:spcBef>
                <a:spcPts val="0"/>
              </a:spcBef>
              <a:spcAft>
                <a:spcPts val="0"/>
              </a:spcAft>
              <a:buClr>
                <a:schemeClr val="lt1"/>
              </a:buClr>
              <a:buSzPts val="2100"/>
              <a:buFont typeface="DM Sans"/>
              <a:buChar char="●"/>
            </a:pPr>
            <a:r>
              <a:rPr lang="en-US" sz="2100">
                <a:solidFill>
                  <a:srgbClr val="FFFFFF"/>
                </a:solidFill>
                <a:latin typeface="DM Sans"/>
                <a:ea typeface="DM Sans"/>
                <a:cs typeface="DM Sans"/>
                <a:sym typeface="DM Sans"/>
              </a:rPr>
              <a:t>Create predictive models to forecast cart abandonment rates and satisfaction scores</a:t>
            </a:r>
            <a:endParaRPr sz="2100">
              <a:solidFill>
                <a:srgbClr val="FFFFFF"/>
              </a:solidFill>
              <a:latin typeface="DM Sans"/>
              <a:ea typeface="DM Sans"/>
              <a:cs typeface="DM Sans"/>
              <a:sym typeface="DM Sans"/>
            </a:endParaRPr>
          </a:p>
          <a:p>
            <a:pPr indent="-361950" lvl="0" marL="457200" rtl="0" algn="l">
              <a:lnSpc>
                <a:spcPct val="115000"/>
              </a:lnSpc>
              <a:spcBef>
                <a:spcPts val="0"/>
              </a:spcBef>
              <a:spcAft>
                <a:spcPts val="0"/>
              </a:spcAft>
              <a:buClr>
                <a:srgbClr val="FFFFFF"/>
              </a:buClr>
              <a:buSzPts val="2100"/>
              <a:buFont typeface="DM Sans"/>
              <a:buChar char="●"/>
            </a:pPr>
            <a:r>
              <a:rPr lang="en-US" sz="2100">
                <a:solidFill>
                  <a:srgbClr val="FFFFFF"/>
                </a:solidFill>
                <a:latin typeface="DM Sans"/>
                <a:ea typeface="DM Sans"/>
                <a:cs typeface="DM Sans"/>
                <a:sym typeface="DM Sans"/>
              </a:rPr>
              <a:t>Form two recommendations to enhance customer experience, reduce cart abandonment, and maximize marketing efficiency</a:t>
            </a:r>
            <a:endParaRPr sz="2100">
              <a:solidFill>
                <a:srgbClr val="FFFFFF"/>
              </a:solidFill>
              <a:latin typeface="DM Sans"/>
              <a:ea typeface="DM Sans"/>
              <a:cs typeface="DM Sans"/>
              <a:sym typeface="DM Sans"/>
            </a:endParaRPr>
          </a:p>
        </p:txBody>
      </p:sp>
      <p:sp>
        <p:nvSpPr>
          <p:cNvPr id="76" name="Google Shape;76;p8"/>
          <p:cNvSpPr txBox="1"/>
          <p:nvPr/>
        </p:nvSpPr>
        <p:spPr>
          <a:xfrm>
            <a:off x="1028700" y="1346740"/>
            <a:ext cx="81153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rgbClr val="FFFFFF"/>
                </a:solidFill>
                <a:latin typeface="DM Sans"/>
                <a:ea typeface="DM Sans"/>
                <a:cs typeface="DM Sans"/>
                <a:sym typeface="DM Sans"/>
              </a:rPr>
              <a:t>Introduction</a:t>
            </a:r>
            <a:endParaRPr/>
          </a:p>
        </p:txBody>
      </p:sp>
      <p:pic>
        <p:nvPicPr>
          <p:cNvPr id="77" name="Google Shape;77;p8"/>
          <p:cNvPicPr preferRelativeResize="0"/>
          <p:nvPr/>
        </p:nvPicPr>
        <p:blipFill>
          <a:blip r:embed="rId3">
            <a:alphaModFix/>
          </a:blip>
          <a:stretch>
            <a:fillRect/>
          </a:stretch>
        </p:blipFill>
        <p:spPr>
          <a:xfrm>
            <a:off x="10215150" y="-798933"/>
            <a:ext cx="12325073" cy="12286882"/>
          </a:xfrm>
          <a:prstGeom prst="rect">
            <a:avLst/>
          </a:prstGeom>
          <a:noFill/>
          <a:ln>
            <a:noFill/>
          </a:ln>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0" scaled="0"/>
        </a:gradFill>
      </p:bgPr>
    </p:bg>
    <p:spTree>
      <p:nvGrpSpPr>
        <p:cNvPr id="81" name="Shape 81"/>
        <p:cNvGrpSpPr/>
        <p:nvPr/>
      </p:nvGrpSpPr>
      <p:grpSpPr>
        <a:xfrm>
          <a:off x="0" y="0"/>
          <a:ext cx="0" cy="0"/>
          <a:chOff x="0" y="0"/>
          <a:chExt cx="0" cy="0"/>
        </a:xfrm>
      </p:grpSpPr>
      <p:pic>
        <p:nvPicPr>
          <p:cNvPr id="82" name="Google Shape;82;p9"/>
          <p:cNvPicPr preferRelativeResize="0"/>
          <p:nvPr/>
        </p:nvPicPr>
        <p:blipFill>
          <a:blip r:embed="rId3">
            <a:alphaModFix/>
          </a:blip>
          <a:stretch>
            <a:fillRect/>
          </a:stretch>
        </p:blipFill>
        <p:spPr>
          <a:xfrm>
            <a:off x="-6559111" y="1304330"/>
            <a:ext cx="16103226" cy="16506051"/>
          </a:xfrm>
          <a:prstGeom prst="rect">
            <a:avLst/>
          </a:prstGeom>
          <a:noFill/>
          <a:ln>
            <a:noFill/>
          </a:ln>
        </p:spPr>
      </p:pic>
      <p:sp>
        <p:nvSpPr>
          <p:cNvPr id="83" name="Google Shape;83;p9"/>
          <p:cNvSpPr txBox="1"/>
          <p:nvPr/>
        </p:nvSpPr>
        <p:spPr>
          <a:xfrm>
            <a:off x="1333500" y="1209675"/>
            <a:ext cx="64674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i="0" lang="en-US" sz="8799" u="none" cap="none" strike="noStrike">
                <a:solidFill>
                  <a:srgbClr val="FFFFFF"/>
                </a:solidFill>
                <a:latin typeface="DM Sans"/>
                <a:ea typeface="DM Sans"/>
                <a:cs typeface="DM Sans"/>
                <a:sym typeface="DM Sans"/>
              </a:rPr>
              <a:t>Agenda</a:t>
            </a:r>
            <a:endParaRPr/>
          </a:p>
        </p:txBody>
      </p:sp>
      <p:sp>
        <p:nvSpPr>
          <p:cNvPr id="84" name="Google Shape;84;p9"/>
          <p:cNvSpPr txBox="1"/>
          <p:nvPr/>
        </p:nvSpPr>
        <p:spPr>
          <a:xfrm>
            <a:off x="10493175" y="1209675"/>
            <a:ext cx="7341000" cy="62061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t/>
            </a:r>
            <a:endParaRPr b="1" sz="3600">
              <a:solidFill>
                <a:srgbClr val="FFFFFF"/>
              </a:solidFill>
              <a:latin typeface="DM Sans"/>
              <a:ea typeface="DM Sans"/>
              <a:cs typeface="DM Sans"/>
              <a:sym typeface="DM Sans"/>
            </a:endParaRPr>
          </a:p>
          <a:p>
            <a:pPr indent="-457200" lvl="0" marL="457200" marR="0" rtl="0" algn="l">
              <a:lnSpc>
                <a:spcPct val="80000"/>
              </a:lnSpc>
              <a:spcBef>
                <a:spcPts val="0"/>
              </a:spcBef>
              <a:spcAft>
                <a:spcPts val="0"/>
              </a:spcAft>
              <a:buClr>
                <a:srgbClr val="FFFFFF"/>
              </a:buClr>
              <a:buSzPts val="3600"/>
              <a:buFont typeface="DM Sans"/>
              <a:buAutoNum type="arabicPeriod"/>
            </a:pPr>
            <a:r>
              <a:rPr b="1" lang="en-US" sz="3600">
                <a:solidFill>
                  <a:srgbClr val="FFFFFF"/>
                </a:solidFill>
                <a:latin typeface="DM Sans"/>
                <a:ea typeface="DM Sans"/>
                <a:cs typeface="DM Sans"/>
                <a:sym typeface="DM Sans"/>
              </a:rPr>
              <a:t>Dataset Overview</a:t>
            </a:r>
            <a:endParaRPr b="1" sz="3600">
              <a:solidFill>
                <a:srgbClr val="FFFFFF"/>
              </a:solidFill>
              <a:latin typeface="DM Sans"/>
              <a:ea typeface="DM Sans"/>
              <a:cs typeface="DM Sans"/>
              <a:sym typeface="DM Sans"/>
            </a:endParaRPr>
          </a:p>
          <a:p>
            <a:pPr indent="0" lvl="0" marL="457200" marR="0" rtl="0" algn="l">
              <a:lnSpc>
                <a:spcPct val="80000"/>
              </a:lnSpc>
              <a:spcBef>
                <a:spcPts val="0"/>
              </a:spcBef>
              <a:spcAft>
                <a:spcPts val="0"/>
              </a:spcAft>
              <a:buNone/>
            </a:pPr>
            <a:r>
              <a:t/>
            </a:r>
            <a:endParaRPr b="1" sz="3600">
              <a:solidFill>
                <a:srgbClr val="FFFFFF"/>
              </a:solidFill>
              <a:latin typeface="DM Sans"/>
              <a:ea typeface="DM Sans"/>
              <a:cs typeface="DM Sans"/>
              <a:sym typeface="DM Sans"/>
            </a:endParaRPr>
          </a:p>
          <a:p>
            <a:pPr indent="-457200" lvl="0" marL="457200" marR="0" rtl="0" algn="l">
              <a:lnSpc>
                <a:spcPct val="80000"/>
              </a:lnSpc>
              <a:spcBef>
                <a:spcPts val="0"/>
              </a:spcBef>
              <a:spcAft>
                <a:spcPts val="0"/>
              </a:spcAft>
              <a:buClr>
                <a:srgbClr val="FFFFFF"/>
              </a:buClr>
              <a:buSzPts val="3600"/>
              <a:buFont typeface="DM Sans"/>
              <a:buAutoNum type="arabicPeriod"/>
            </a:pPr>
            <a:r>
              <a:rPr b="1" lang="en-US" sz="3600">
                <a:solidFill>
                  <a:srgbClr val="FFFFFF"/>
                </a:solidFill>
                <a:latin typeface="DM Sans"/>
                <a:ea typeface="DM Sans"/>
                <a:cs typeface="DM Sans"/>
                <a:sym typeface="DM Sans"/>
              </a:rPr>
              <a:t>Data Cleaning</a:t>
            </a:r>
            <a:endParaRPr b="1" sz="3600">
              <a:solidFill>
                <a:srgbClr val="FFFFFF"/>
              </a:solidFill>
              <a:latin typeface="DM Sans"/>
              <a:ea typeface="DM Sans"/>
              <a:cs typeface="DM Sans"/>
              <a:sym typeface="DM Sans"/>
            </a:endParaRPr>
          </a:p>
          <a:p>
            <a:pPr indent="0" lvl="0" marL="457200" marR="0" rtl="0" algn="l">
              <a:lnSpc>
                <a:spcPct val="80000"/>
              </a:lnSpc>
              <a:spcBef>
                <a:spcPts val="0"/>
              </a:spcBef>
              <a:spcAft>
                <a:spcPts val="0"/>
              </a:spcAft>
              <a:buNone/>
            </a:pPr>
            <a:r>
              <a:t/>
            </a:r>
            <a:endParaRPr b="1" sz="3600">
              <a:solidFill>
                <a:srgbClr val="FFFFFF"/>
              </a:solidFill>
              <a:latin typeface="DM Sans"/>
              <a:ea typeface="DM Sans"/>
              <a:cs typeface="DM Sans"/>
              <a:sym typeface="DM Sans"/>
            </a:endParaRPr>
          </a:p>
          <a:p>
            <a:pPr indent="-457200" lvl="0" marL="457200" marR="0" rtl="0" algn="l">
              <a:lnSpc>
                <a:spcPct val="80000"/>
              </a:lnSpc>
              <a:spcBef>
                <a:spcPts val="0"/>
              </a:spcBef>
              <a:spcAft>
                <a:spcPts val="0"/>
              </a:spcAft>
              <a:buClr>
                <a:srgbClr val="FFFFFF"/>
              </a:buClr>
              <a:buSzPts val="3600"/>
              <a:buFont typeface="DM Sans"/>
              <a:buAutoNum type="arabicPeriod"/>
            </a:pPr>
            <a:r>
              <a:rPr b="1" lang="en-US" sz="3600">
                <a:solidFill>
                  <a:srgbClr val="FFFFFF"/>
                </a:solidFill>
                <a:latin typeface="DM Sans"/>
                <a:ea typeface="DM Sans"/>
                <a:cs typeface="DM Sans"/>
                <a:sym typeface="DM Sans"/>
              </a:rPr>
              <a:t>Exploratory Data Analysis</a:t>
            </a:r>
            <a:endParaRPr b="1" sz="3600">
              <a:solidFill>
                <a:srgbClr val="FFFFFF"/>
              </a:solidFill>
              <a:latin typeface="DM Sans"/>
              <a:ea typeface="DM Sans"/>
              <a:cs typeface="DM Sans"/>
              <a:sym typeface="DM Sans"/>
            </a:endParaRPr>
          </a:p>
          <a:p>
            <a:pPr indent="0" lvl="0" marL="457200" marR="0" rtl="0" algn="l">
              <a:lnSpc>
                <a:spcPct val="80000"/>
              </a:lnSpc>
              <a:spcBef>
                <a:spcPts val="0"/>
              </a:spcBef>
              <a:spcAft>
                <a:spcPts val="0"/>
              </a:spcAft>
              <a:buNone/>
            </a:pPr>
            <a:r>
              <a:t/>
            </a:r>
            <a:endParaRPr b="1" sz="3600">
              <a:solidFill>
                <a:srgbClr val="FFFFFF"/>
              </a:solidFill>
              <a:latin typeface="DM Sans"/>
              <a:ea typeface="DM Sans"/>
              <a:cs typeface="DM Sans"/>
              <a:sym typeface="DM Sans"/>
            </a:endParaRPr>
          </a:p>
          <a:p>
            <a:pPr indent="-457200" lvl="0" marL="457200" marR="0" rtl="0" algn="l">
              <a:lnSpc>
                <a:spcPct val="80000"/>
              </a:lnSpc>
              <a:spcBef>
                <a:spcPts val="0"/>
              </a:spcBef>
              <a:spcAft>
                <a:spcPts val="0"/>
              </a:spcAft>
              <a:buClr>
                <a:srgbClr val="FFFFFF"/>
              </a:buClr>
              <a:buSzPts val="3600"/>
              <a:buFont typeface="DM Sans"/>
              <a:buAutoNum type="arabicPeriod"/>
            </a:pPr>
            <a:r>
              <a:rPr b="1" lang="en-US" sz="3600">
                <a:solidFill>
                  <a:srgbClr val="FFFFFF"/>
                </a:solidFill>
                <a:latin typeface="DM Sans"/>
                <a:ea typeface="DM Sans"/>
                <a:cs typeface="DM Sans"/>
                <a:sym typeface="DM Sans"/>
              </a:rPr>
              <a:t>Predictive Modeling</a:t>
            </a:r>
            <a:endParaRPr b="1" sz="3600">
              <a:solidFill>
                <a:srgbClr val="FFFFFF"/>
              </a:solidFill>
              <a:latin typeface="DM Sans"/>
              <a:ea typeface="DM Sans"/>
              <a:cs typeface="DM Sans"/>
              <a:sym typeface="DM Sans"/>
            </a:endParaRPr>
          </a:p>
          <a:p>
            <a:pPr indent="0" lvl="0" marL="457200" marR="0" rtl="0" algn="l">
              <a:lnSpc>
                <a:spcPct val="80000"/>
              </a:lnSpc>
              <a:spcBef>
                <a:spcPts val="0"/>
              </a:spcBef>
              <a:spcAft>
                <a:spcPts val="0"/>
              </a:spcAft>
              <a:buNone/>
            </a:pPr>
            <a:r>
              <a:t/>
            </a:r>
            <a:endParaRPr b="1" sz="3600">
              <a:solidFill>
                <a:srgbClr val="FFFFFF"/>
              </a:solidFill>
              <a:latin typeface="DM Sans"/>
              <a:ea typeface="DM Sans"/>
              <a:cs typeface="DM Sans"/>
              <a:sym typeface="DM Sans"/>
            </a:endParaRPr>
          </a:p>
          <a:p>
            <a:pPr indent="-457200" lvl="0" marL="457200" marR="0" rtl="0" algn="l">
              <a:lnSpc>
                <a:spcPct val="80000"/>
              </a:lnSpc>
              <a:spcBef>
                <a:spcPts val="0"/>
              </a:spcBef>
              <a:spcAft>
                <a:spcPts val="0"/>
              </a:spcAft>
              <a:buClr>
                <a:srgbClr val="FFFFFF"/>
              </a:buClr>
              <a:buSzPts val="3600"/>
              <a:buFont typeface="DM Sans"/>
              <a:buAutoNum type="arabicPeriod"/>
            </a:pPr>
            <a:r>
              <a:rPr b="1" lang="en-US" sz="3600">
                <a:solidFill>
                  <a:srgbClr val="FFFFFF"/>
                </a:solidFill>
                <a:latin typeface="DM Sans"/>
                <a:ea typeface="DM Sans"/>
                <a:cs typeface="DM Sans"/>
                <a:sym typeface="DM Sans"/>
              </a:rPr>
              <a:t>Roadblocks &amp; Resolutions</a:t>
            </a:r>
            <a:endParaRPr b="1" sz="3600">
              <a:solidFill>
                <a:srgbClr val="FFFFFF"/>
              </a:solidFill>
              <a:latin typeface="DM Sans"/>
              <a:ea typeface="DM Sans"/>
              <a:cs typeface="DM Sans"/>
              <a:sym typeface="DM Sans"/>
            </a:endParaRPr>
          </a:p>
          <a:p>
            <a:pPr indent="0" lvl="0" marL="457200" marR="0" rtl="0" algn="l">
              <a:lnSpc>
                <a:spcPct val="80000"/>
              </a:lnSpc>
              <a:spcBef>
                <a:spcPts val="0"/>
              </a:spcBef>
              <a:spcAft>
                <a:spcPts val="0"/>
              </a:spcAft>
              <a:buNone/>
            </a:pPr>
            <a:r>
              <a:t/>
            </a:r>
            <a:endParaRPr b="1" sz="3600">
              <a:solidFill>
                <a:srgbClr val="FFFFFF"/>
              </a:solidFill>
              <a:latin typeface="DM Sans"/>
              <a:ea typeface="DM Sans"/>
              <a:cs typeface="DM Sans"/>
              <a:sym typeface="DM Sans"/>
            </a:endParaRPr>
          </a:p>
          <a:p>
            <a:pPr indent="-457200" lvl="0" marL="457200" marR="0" rtl="0" algn="l">
              <a:lnSpc>
                <a:spcPct val="80000"/>
              </a:lnSpc>
              <a:spcBef>
                <a:spcPts val="0"/>
              </a:spcBef>
              <a:spcAft>
                <a:spcPts val="0"/>
              </a:spcAft>
              <a:buClr>
                <a:srgbClr val="FFFFFF"/>
              </a:buClr>
              <a:buSzPts val="3600"/>
              <a:buFont typeface="DM Sans"/>
              <a:buAutoNum type="arabicPeriod"/>
            </a:pPr>
            <a:r>
              <a:rPr b="1" lang="en-US" sz="3600">
                <a:solidFill>
                  <a:srgbClr val="FFFFFF"/>
                </a:solidFill>
                <a:latin typeface="DM Sans"/>
                <a:ea typeface="DM Sans"/>
                <a:cs typeface="DM Sans"/>
                <a:sym typeface="DM Sans"/>
              </a:rPr>
              <a:t>Strategic </a:t>
            </a:r>
            <a:r>
              <a:rPr b="1" lang="en-US" sz="3600">
                <a:solidFill>
                  <a:srgbClr val="FFFFFF"/>
                </a:solidFill>
                <a:latin typeface="DM Sans"/>
                <a:ea typeface="DM Sans"/>
                <a:cs typeface="DM Sans"/>
                <a:sym typeface="DM Sans"/>
              </a:rPr>
              <a:t>Recommendations</a:t>
            </a:r>
            <a:endParaRPr b="1" sz="3600">
              <a:solidFill>
                <a:srgbClr val="FFFFFF"/>
              </a:solidFill>
              <a:latin typeface="DM Sans"/>
              <a:ea typeface="DM Sans"/>
              <a:cs typeface="DM Sans"/>
              <a:sym typeface="DM Sans"/>
            </a:endParaRPr>
          </a:p>
          <a:p>
            <a:pPr indent="0" lvl="0" marL="457200" marR="0" rtl="0" algn="l">
              <a:lnSpc>
                <a:spcPct val="80000"/>
              </a:lnSpc>
              <a:spcBef>
                <a:spcPts val="0"/>
              </a:spcBef>
              <a:spcAft>
                <a:spcPts val="0"/>
              </a:spcAft>
              <a:buNone/>
            </a:pPr>
            <a:r>
              <a:t/>
            </a:r>
            <a:endParaRPr b="1" sz="3600">
              <a:solidFill>
                <a:srgbClr val="FFFFFF"/>
              </a:solidFill>
              <a:latin typeface="DM Sans"/>
              <a:ea typeface="DM Sans"/>
              <a:cs typeface="DM Sans"/>
              <a:sym typeface="DM Sans"/>
            </a:endParaRPr>
          </a:p>
          <a:p>
            <a:pPr indent="-457200" lvl="0" marL="457200" marR="0" rtl="0" algn="l">
              <a:lnSpc>
                <a:spcPct val="80000"/>
              </a:lnSpc>
              <a:spcBef>
                <a:spcPts val="0"/>
              </a:spcBef>
              <a:spcAft>
                <a:spcPts val="0"/>
              </a:spcAft>
              <a:buClr>
                <a:srgbClr val="FFFFFF"/>
              </a:buClr>
              <a:buSzPts val="3600"/>
              <a:buFont typeface="DM Sans"/>
              <a:buAutoNum type="arabicPeriod"/>
            </a:pPr>
            <a:r>
              <a:rPr b="1" lang="en-US" sz="3600">
                <a:solidFill>
                  <a:srgbClr val="FFFFFF"/>
                </a:solidFill>
                <a:latin typeface="DM Sans"/>
                <a:ea typeface="DM Sans"/>
                <a:cs typeface="DM Sans"/>
                <a:sym typeface="DM Sans"/>
              </a:rPr>
              <a:t>Q &amp; A</a:t>
            </a:r>
            <a:endParaRPr b="1" sz="3600">
              <a:solidFill>
                <a:srgbClr val="FFFFFF"/>
              </a:solidFill>
              <a:latin typeface="DM Sans"/>
              <a:ea typeface="DM Sans"/>
              <a:cs typeface="DM Sans"/>
              <a:sym typeface="DM Sans"/>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0" scaled="0"/>
        </a:gradFill>
      </p:bgPr>
    </p:bg>
    <p:spTree>
      <p:nvGrpSpPr>
        <p:cNvPr id="88" name="Shape 88"/>
        <p:cNvGrpSpPr/>
        <p:nvPr/>
      </p:nvGrpSpPr>
      <p:grpSpPr>
        <a:xfrm>
          <a:off x="0" y="0"/>
          <a:ext cx="0" cy="0"/>
          <a:chOff x="0" y="0"/>
          <a:chExt cx="0" cy="0"/>
        </a:xfrm>
      </p:grpSpPr>
      <p:grpSp>
        <p:nvGrpSpPr>
          <p:cNvPr id="89" name="Google Shape;89;p10"/>
          <p:cNvGrpSpPr/>
          <p:nvPr/>
        </p:nvGrpSpPr>
        <p:grpSpPr>
          <a:xfrm>
            <a:off x="827175" y="3531191"/>
            <a:ext cx="3637436" cy="5958333"/>
            <a:chOff x="0" y="-9525"/>
            <a:chExt cx="998884" cy="1684763"/>
          </a:xfrm>
        </p:grpSpPr>
        <p:sp>
          <p:nvSpPr>
            <p:cNvPr id="90" name="Google Shape;90;p10"/>
            <p:cNvSpPr/>
            <p:nvPr/>
          </p:nvSpPr>
          <p:spPr>
            <a:xfrm>
              <a:off x="0" y="0"/>
              <a:ext cx="998884" cy="1675238"/>
            </a:xfrm>
            <a:custGeom>
              <a:rect b="b" l="l" r="r" t="t"/>
              <a:pathLst>
                <a:path extrusionOk="0" h="1675238" w="998884">
                  <a:moveTo>
                    <a:pt x="0" y="0"/>
                  </a:moveTo>
                  <a:lnTo>
                    <a:pt x="998884" y="0"/>
                  </a:lnTo>
                  <a:lnTo>
                    <a:pt x="998884" y="1675238"/>
                  </a:lnTo>
                  <a:lnTo>
                    <a:pt x="0" y="1675238"/>
                  </a:lnTo>
                  <a:close/>
                </a:path>
              </a:pathLst>
            </a:custGeom>
            <a:solidFill>
              <a:srgbClr val="FFFFFF"/>
            </a:solidFill>
            <a:ln>
              <a:noFill/>
            </a:ln>
          </p:spPr>
        </p:sp>
        <p:sp>
          <p:nvSpPr>
            <p:cNvPr id="91" name="Google Shape;91;p10"/>
            <p:cNvSpPr txBox="1"/>
            <p:nvPr/>
          </p:nvSpPr>
          <p:spPr>
            <a:xfrm>
              <a:off x="0" y="-9525"/>
              <a:ext cx="998884" cy="168476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92" name="Google Shape;92;p10"/>
          <p:cNvCxnSpPr/>
          <p:nvPr/>
        </p:nvCxnSpPr>
        <p:spPr>
          <a:xfrm>
            <a:off x="1021134" y="5025844"/>
            <a:ext cx="3263100" cy="0"/>
          </a:xfrm>
          <a:prstGeom prst="straightConnector1">
            <a:avLst/>
          </a:prstGeom>
          <a:noFill/>
          <a:ln cap="flat" cmpd="sng" w="38100">
            <a:solidFill>
              <a:srgbClr val="FF3131"/>
            </a:solidFill>
            <a:prstDash val="solid"/>
            <a:round/>
            <a:headEnd len="sm" w="sm" type="none"/>
            <a:tailEnd len="sm" w="sm" type="none"/>
          </a:ln>
        </p:spPr>
      </p:cxnSp>
      <p:cxnSp>
        <p:nvCxnSpPr>
          <p:cNvPr id="93" name="Google Shape;93;p10"/>
          <p:cNvCxnSpPr/>
          <p:nvPr/>
        </p:nvCxnSpPr>
        <p:spPr>
          <a:xfrm>
            <a:off x="1021134" y="6510342"/>
            <a:ext cx="3263100" cy="0"/>
          </a:xfrm>
          <a:prstGeom prst="straightConnector1">
            <a:avLst/>
          </a:prstGeom>
          <a:noFill/>
          <a:ln cap="flat" cmpd="sng" w="38100">
            <a:solidFill>
              <a:srgbClr val="FF3131"/>
            </a:solidFill>
            <a:prstDash val="solid"/>
            <a:round/>
            <a:headEnd len="sm" w="sm" type="none"/>
            <a:tailEnd len="sm" w="sm" type="none"/>
          </a:ln>
        </p:spPr>
      </p:cxnSp>
      <p:cxnSp>
        <p:nvCxnSpPr>
          <p:cNvPr id="94" name="Google Shape;94;p10"/>
          <p:cNvCxnSpPr/>
          <p:nvPr/>
        </p:nvCxnSpPr>
        <p:spPr>
          <a:xfrm>
            <a:off x="1021134" y="7994839"/>
            <a:ext cx="3263100" cy="0"/>
          </a:xfrm>
          <a:prstGeom prst="straightConnector1">
            <a:avLst/>
          </a:prstGeom>
          <a:noFill/>
          <a:ln cap="flat" cmpd="sng" w="38100">
            <a:solidFill>
              <a:srgbClr val="FF3131"/>
            </a:solidFill>
            <a:prstDash val="solid"/>
            <a:round/>
            <a:headEnd len="sm" w="sm" type="none"/>
            <a:tailEnd len="sm" w="sm" type="none"/>
          </a:ln>
        </p:spPr>
      </p:cxnSp>
      <p:grpSp>
        <p:nvGrpSpPr>
          <p:cNvPr id="95" name="Google Shape;95;p10"/>
          <p:cNvGrpSpPr/>
          <p:nvPr/>
        </p:nvGrpSpPr>
        <p:grpSpPr>
          <a:xfrm>
            <a:off x="842775" y="2109925"/>
            <a:ext cx="3637436" cy="1112583"/>
            <a:chOff x="0" y="-9525"/>
            <a:chExt cx="998884" cy="314591"/>
          </a:xfrm>
        </p:grpSpPr>
        <p:sp>
          <p:nvSpPr>
            <p:cNvPr id="96" name="Google Shape;96;p10"/>
            <p:cNvSpPr/>
            <p:nvPr/>
          </p:nvSpPr>
          <p:spPr>
            <a:xfrm>
              <a:off x="0" y="0"/>
              <a:ext cx="998884" cy="305066"/>
            </a:xfrm>
            <a:custGeom>
              <a:rect b="b" l="l" r="r" t="t"/>
              <a:pathLst>
                <a:path extrusionOk="0" h="305066" w="998884">
                  <a:moveTo>
                    <a:pt x="0" y="0"/>
                  </a:moveTo>
                  <a:lnTo>
                    <a:pt x="998884" y="0"/>
                  </a:lnTo>
                  <a:lnTo>
                    <a:pt x="998884" y="305066"/>
                  </a:lnTo>
                  <a:lnTo>
                    <a:pt x="0" y="305066"/>
                  </a:lnTo>
                  <a:close/>
                </a:path>
              </a:pathLst>
            </a:custGeom>
            <a:solidFill>
              <a:srgbClr val="FFFFFF"/>
            </a:solidFill>
            <a:ln>
              <a:noFill/>
            </a:ln>
          </p:spPr>
        </p:sp>
        <p:sp>
          <p:nvSpPr>
            <p:cNvPr id="97" name="Google Shape;97;p10"/>
            <p:cNvSpPr txBox="1"/>
            <p:nvPr/>
          </p:nvSpPr>
          <p:spPr>
            <a:xfrm>
              <a:off x="0" y="-9525"/>
              <a:ext cx="998884" cy="314591"/>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8" name="Google Shape;98;p10"/>
          <p:cNvGrpSpPr/>
          <p:nvPr/>
        </p:nvGrpSpPr>
        <p:grpSpPr>
          <a:xfrm>
            <a:off x="4775326" y="2109925"/>
            <a:ext cx="4213055" cy="1112583"/>
            <a:chOff x="0" y="-9525"/>
            <a:chExt cx="1156956" cy="314591"/>
          </a:xfrm>
        </p:grpSpPr>
        <p:sp>
          <p:nvSpPr>
            <p:cNvPr id="99" name="Google Shape;99;p10"/>
            <p:cNvSpPr/>
            <p:nvPr/>
          </p:nvSpPr>
          <p:spPr>
            <a:xfrm>
              <a:off x="0" y="0"/>
              <a:ext cx="1156956" cy="305066"/>
            </a:xfrm>
            <a:custGeom>
              <a:rect b="b" l="l" r="r" t="t"/>
              <a:pathLst>
                <a:path extrusionOk="0" h="305066" w="1156956">
                  <a:moveTo>
                    <a:pt x="0" y="0"/>
                  </a:moveTo>
                  <a:lnTo>
                    <a:pt x="1156956" y="0"/>
                  </a:lnTo>
                  <a:lnTo>
                    <a:pt x="1156956" y="305066"/>
                  </a:lnTo>
                  <a:lnTo>
                    <a:pt x="0" y="305066"/>
                  </a:lnTo>
                  <a:close/>
                </a:path>
              </a:pathLst>
            </a:custGeom>
            <a:solidFill>
              <a:srgbClr val="FFFFFF"/>
            </a:solidFill>
            <a:ln>
              <a:noFill/>
            </a:ln>
          </p:spPr>
        </p:sp>
        <p:sp>
          <p:nvSpPr>
            <p:cNvPr id="100" name="Google Shape;100;p10"/>
            <p:cNvSpPr txBox="1"/>
            <p:nvPr/>
          </p:nvSpPr>
          <p:spPr>
            <a:xfrm>
              <a:off x="0" y="-9525"/>
              <a:ext cx="1156956" cy="314591"/>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1" name="Google Shape;101;p10"/>
          <p:cNvGrpSpPr/>
          <p:nvPr/>
        </p:nvGrpSpPr>
        <p:grpSpPr>
          <a:xfrm>
            <a:off x="4775326" y="3533341"/>
            <a:ext cx="4213055" cy="5958333"/>
            <a:chOff x="0" y="-9525"/>
            <a:chExt cx="1156956" cy="1684763"/>
          </a:xfrm>
        </p:grpSpPr>
        <p:sp>
          <p:nvSpPr>
            <p:cNvPr id="102" name="Google Shape;102;p10"/>
            <p:cNvSpPr/>
            <p:nvPr/>
          </p:nvSpPr>
          <p:spPr>
            <a:xfrm>
              <a:off x="0" y="0"/>
              <a:ext cx="1156956" cy="1675238"/>
            </a:xfrm>
            <a:custGeom>
              <a:rect b="b" l="l" r="r" t="t"/>
              <a:pathLst>
                <a:path extrusionOk="0" h="1675238" w="1156956">
                  <a:moveTo>
                    <a:pt x="0" y="0"/>
                  </a:moveTo>
                  <a:lnTo>
                    <a:pt x="1156956" y="0"/>
                  </a:lnTo>
                  <a:lnTo>
                    <a:pt x="1156956" y="1675238"/>
                  </a:lnTo>
                  <a:lnTo>
                    <a:pt x="0" y="1675238"/>
                  </a:lnTo>
                  <a:close/>
                </a:path>
              </a:pathLst>
            </a:custGeom>
            <a:solidFill>
              <a:srgbClr val="FFFFFF"/>
            </a:solidFill>
            <a:ln>
              <a:noFill/>
            </a:ln>
          </p:spPr>
        </p:sp>
        <p:sp>
          <p:nvSpPr>
            <p:cNvPr id="103" name="Google Shape;103;p10"/>
            <p:cNvSpPr txBox="1"/>
            <p:nvPr/>
          </p:nvSpPr>
          <p:spPr>
            <a:xfrm>
              <a:off x="0" y="-9525"/>
              <a:ext cx="1156956" cy="168476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04" name="Google Shape;104;p10"/>
          <p:cNvCxnSpPr/>
          <p:nvPr/>
        </p:nvCxnSpPr>
        <p:spPr>
          <a:xfrm>
            <a:off x="5007390" y="5025844"/>
            <a:ext cx="3748800" cy="0"/>
          </a:xfrm>
          <a:prstGeom prst="straightConnector1">
            <a:avLst/>
          </a:prstGeom>
          <a:noFill/>
          <a:ln cap="flat" cmpd="sng" w="38100">
            <a:solidFill>
              <a:srgbClr val="FF3131"/>
            </a:solidFill>
            <a:prstDash val="solid"/>
            <a:round/>
            <a:headEnd len="sm" w="sm" type="none"/>
            <a:tailEnd len="sm" w="sm" type="none"/>
          </a:ln>
        </p:spPr>
      </p:cxnSp>
      <p:cxnSp>
        <p:nvCxnSpPr>
          <p:cNvPr id="105" name="Google Shape;105;p10"/>
          <p:cNvCxnSpPr/>
          <p:nvPr/>
        </p:nvCxnSpPr>
        <p:spPr>
          <a:xfrm>
            <a:off x="5007390" y="6510342"/>
            <a:ext cx="3748800" cy="0"/>
          </a:xfrm>
          <a:prstGeom prst="straightConnector1">
            <a:avLst/>
          </a:prstGeom>
          <a:noFill/>
          <a:ln cap="flat" cmpd="sng" w="38100">
            <a:solidFill>
              <a:srgbClr val="FF3131"/>
            </a:solidFill>
            <a:prstDash val="solid"/>
            <a:round/>
            <a:headEnd len="sm" w="sm" type="none"/>
            <a:tailEnd len="sm" w="sm" type="none"/>
          </a:ln>
        </p:spPr>
      </p:cxnSp>
      <p:cxnSp>
        <p:nvCxnSpPr>
          <p:cNvPr id="106" name="Google Shape;106;p10"/>
          <p:cNvCxnSpPr/>
          <p:nvPr/>
        </p:nvCxnSpPr>
        <p:spPr>
          <a:xfrm>
            <a:off x="5007390" y="7994839"/>
            <a:ext cx="3748800" cy="0"/>
          </a:xfrm>
          <a:prstGeom prst="straightConnector1">
            <a:avLst/>
          </a:prstGeom>
          <a:noFill/>
          <a:ln cap="flat" cmpd="sng" w="38100">
            <a:solidFill>
              <a:srgbClr val="FF3131"/>
            </a:solidFill>
            <a:prstDash val="solid"/>
            <a:round/>
            <a:headEnd len="sm" w="sm" type="none"/>
            <a:tailEnd len="sm" w="sm" type="none"/>
          </a:ln>
        </p:spPr>
      </p:cxnSp>
      <p:sp>
        <p:nvSpPr>
          <p:cNvPr id="107" name="Google Shape;107;p10"/>
          <p:cNvSpPr txBox="1"/>
          <p:nvPr/>
        </p:nvSpPr>
        <p:spPr>
          <a:xfrm>
            <a:off x="1022125" y="3849711"/>
            <a:ext cx="3263100" cy="110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3600">
                <a:solidFill>
                  <a:srgbClr val="FF6D42"/>
                </a:solidFill>
                <a:latin typeface="DM Sans"/>
                <a:ea typeface="DM Sans"/>
                <a:cs typeface="DM Sans"/>
                <a:sym typeface="DM Sans"/>
              </a:rPr>
              <a:t>Satisfaction</a:t>
            </a:r>
            <a:r>
              <a:rPr b="1" lang="en-US" sz="3600">
                <a:solidFill>
                  <a:srgbClr val="FF6D42"/>
                </a:solidFill>
                <a:latin typeface="DM Sans"/>
                <a:ea typeface="DM Sans"/>
                <a:cs typeface="DM Sans"/>
                <a:sym typeface="DM Sans"/>
              </a:rPr>
              <a:t> Score</a:t>
            </a:r>
            <a:endParaRPr/>
          </a:p>
        </p:txBody>
      </p:sp>
      <p:sp>
        <p:nvSpPr>
          <p:cNvPr id="108" name="Google Shape;108;p10"/>
          <p:cNvSpPr txBox="1"/>
          <p:nvPr/>
        </p:nvSpPr>
        <p:spPr>
          <a:xfrm>
            <a:off x="1010784" y="5585130"/>
            <a:ext cx="3263100" cy="554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3600">
                <a:solidFill>
                  <a:srgbClr val="FF6D42"/>
                </a:solidFill>
                <a:latin typeface="DM Sans"/>
                <a:ea typeface="DM Sans"/>
                <a:cs typeface="DM Sans"/>
                <a:sym typeface="DM Sans"/>
              </a:rPr>
              <a:t>CLV </a:t>
            </a:r>
            <a:endParaRPr/>
          </a:p>
        </p:txBody>
      </p:sp>
      <p:sp>
        <p:nvSpPr>
          <p:cNvPr id="109" name="Google Shape;109;p10"/>
          <p:cNvSpPr txBox="1"/>
          <p:nvPr/>
        </p:nvSpPr>
        <p:spPr>
          <a:xfrm>
            <a:off x="826799" y="6698500"/>
            <a:ext cx="3637800" cy="110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3600">
                <a:solidFill>
                  <a:srgbClr val="FF6D42"/>
                </a:solidFill>
                <a:latin typeface="DM Sans"/>
                <a:ea typeface="DM Sans"/>
                <a:cs typeface="DM Sans"/>
                <a:sym typeface="DM Sans"/>
              </a:rPr>
              <a:t>Cart </a:t>
            </a:r>
            <a:r>
              <a:rPr b="1" lang="en-US" sz="3600">
                <a:solidFill>
                  <a:srgbClr val="FF6D42"/>
                </a:solidFill>
                <a:latin typeface="DM Sans"/>
                <a:ea typeface="DM Sans"/>
                <a:cs typeface="DM Sans"/>
                <a:sym typeface="DM Sans"/>
              </a:rPr>
              <a:t>Abandonment</a:t>
            </a:r>
            <a:r>
              <a:rPr b="1" lang="en-US" sz="3600">
                <a:solidFill>
                  <a:srgbClr val="FF6D42"/>
                </a:solidFill>
                <a:latin typeface="DM Sans"/>
                <a:ea typeface="DM Sans"/>
                <a:cs typeface="DM Sans"/>
                <a:sym typeface="DM Sans"/>
              </a:rPr>
              <a:t> </a:t>
            </a:r>
            <a:endParaRPr/>
          </a:p>
        </p:txBody>
      </p:sp>
      <p:sp>
        <p:nvSpPr>
          <p:cNvPr id="110" name="Google Shape;110;p10"/>
          <p:cNvSpPr txBox="1"/>
          <p:nvPr/>
        </p:nvSpPr>
        <p:spPr>
          <a:xfrm>
            <a:off x="1021134" y="8543675"/>
            <a:ext cx="3263100" cy="554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Font typeface="Arial"/>
              <a:buNone/>
            </a:pPr>
            <a:r>
              <a:rPr b="1" lang="en-US" sz="3600">
                <a:solidFill>
                  <a:srgbClr val="FF6D42"/>
                </a:solidFill>
                <a:latin typeface="DM Sans"/>
                <a:ea typeface="DM Sans"/>
                <a:cs typeface="DM Sans"/>
                <a:sym typeface="DM Sans"/>
              </a:rPr>
              <a:t>Months Active </a:t>
            </a:r>
            <a:endParaRPr/>
          </a:p>
        </p:txBody>
      </p:sp>
      <p:sp>
        <p:nvSpPr>
          <p:cNvPr id="111" name="Google Shape;111;p10"/>
          <p:cNvSpPr txBox="1"/>
          <p:nvPr/>
        </p:nvSpPr>
        <p:spPr>
          <a:xfrm>
            <a:off x="842775" y="2398696"/>
            <a:ext cx="3619800" cy="646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4200">
                <a:solidFill>
                  <a:srgbClr val="FF6D42"/>
                </a:solidFill>
                <a:latin typeface="DM Sans"/>
                <a:ea typeface="DM Sans"/>
                <a:cs typeface="DM Sans"/>
                <a:sym typeface="DM Sans"/>
              </a:rPr>
              <a:t>Variable</a:t>
            </a:r>
            <a:endParaRPr/>
          </a:p>
        </p:txBody>
      </p:sp>
      <p:sp>
        <p:nvSpPr>
          <p:cNvPr id="112" name="Google Shape;112;p10"/>
          <p:cNvSpPr txBox="1"/>
          <p:nvPr/>
        </p:nvSpPr>
        <p:spPr>
          <a:xfrm>
            <a:off x="5250287" y="2398696"/>
            <a:ext cx="3263100" cy="646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4200">
                <a:solidFill>
                  <a:srgbClr val="FF6D42"/>
                </a:solidFill>
                <a:latin typeface="DM Sans"/>
                <a:ea typeface="DM Sans"/>
                <a:cs typeface="DM Sans"/>
                <a:sym typeface="DM Sans"/>
              </a:rPr>
              <a:t>Description</a:t>
            </a:r>
            <a:endParaRPr/>
          </a:p>
        </p:txBody>
      </p:sp>
      <p:sp>
        <p:nvSpPr>
          <p:cNvPr id="113" name="Google Shape;113;p10"/>
          <p:cNvSpPr txBox="1"/>
          <p:nvPr/>
        </p:nvSpPr>
        <p:spPr>
          <a:xfrm>
            <a:off x="5007440" y="4176305"/>
            <a:ext cx="3748800" cy="5817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lang="en-US" sz="2100">
                <a:solidFill>
                  <a:srgbClr val="FF6D42"/>
                </a:solidFill>
                <a:latin typeface="DM Sans"/>
                <a:ea typeface="DM Sans"/>
                <a:cs typeface="DM Sans"/>
                <a:sym typeface="DM Sans"/>
              </a:rPr>
              <a:t>Rating value for customer satisfaction</a:t>
            </a:r>
            <a:endParaRPr/>
          </a:p>
        </p:txBody>
      </p:sp>
      <p:sp>
        <p:nvSpPr>
          <p:cNvPr id="114" name="Google Shape;114;p10"/>
          <p:cNvSpPr txBox="1"/>
          <p:nvPr/>
        </p:nvSpPr>
        <p:spPr>
          <a:xfrm>
            <a:off x="5007440" y="5622603"/>
            <a:ext cx="3748800" cy="5817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lang="en-US" sz="2100">
                <a:solidFill>
                  <a:srgbClr val="FF6D42"/>
                </a:solidFill>
                <a:latin typeface="DM Sans"/>
                <a:ea typeface="DM Sans"/>
                <a:cs typeface="DM Sans"/>
                <a:sym typeface="DM Sans"/>
              </a:rPr>
              <a:t>2-year projection in USD of a customer’s value</a:t>
            </a:r>
            <a:endParaRPr/>
          </a:p>
        </p:txBody>
      </p:sp>
      <p:sp>
        <p:nvSpPr>
          <p:cNvPr id="115" name="Google Shape;115;p10"/>
          <p:cNvSpPr txBox="1"/>
          <p:nvPr/>
        </p:nvSpPr>
        <p:spPr>
          <a:xfrm>
            <a:off x="5007440" y="7107111"/>
            <a:ext cx="3748800" cy="5817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lang="en-US" sz="2100">
                <a:solidFill>
                  <a:srgbClr val="FF6D42"/>
                </a:solidFill>
                <a:latin typeface="DM Sans"/>
                <a:ea typeface="DM Sans"/>
                <a:cs typeface="DM Sans"/>
                <a:sym typeface="DM Sans"/>
              </a:rPr>
              <a:t>Customer </a:t>
            </a:r>
            <a:r>
              <a:rPr lang="en-US" sz="2100">
                <a:solidFill>
                  <a:srgbClr val="FF6D42"/>
                </a:solidFill>
                <a:latin typeface="DM Sans"/>
                <a:ea typeface="DM Sans"/>
                <a:cs typeface="DM Sans"/>
                <a:sym typeface="DM Sans"/>
              </a:rPr>
              <a:t>proportion</a:t>
            </a:r>
            <a:r>
              <a:rPr lang="en-US" sz="2100">
                <a:solidFill>
                  <a:srgbClr val="FF6D42"/>
                </a:solidFill>
                <a:latin typeface="DM Sans"/>
                <a:ea typeface="DM Sans"/>
                <a:cs typeface="DM Sans"/>
                <a:sym typeface="DM Sans"/>
              </a:rPr>
              <a:t> of shopping carts abandoned</a:t>
            </a:r>
            <a:endParaRPr/>
          </a:p>
        </p:txBody>
      </p:sp>
      <p:sp>
        <p:nvSpPr>
          <p:cNvPr id="116" name="Google Shape;116;p10"/>
          <p:cNvSpPr txBox="1"/>
          <p:nvPr/>
        </p:nvSpPr>
        <p:spPr>
          <a:xfrm>
            <a:off x="5007440" y="8553397"/>
            <a:ext cx="3748800" cy="5817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lang="en-US" sz="2100">
                <a:solidFill>
                  <a:srgbClr val="FF6D42"/>
                </a:solidFill>
                <a:latin typeface="DM Sans"/>
                <a:ea typeface="DM Sans"/>
                <a:cs typeface="DM Sans"/>
                <a:sym typeface="DM Sans"/>
              </a:rPr>
              <a:t>Number of months as an active customer</a:t>
            </a:r>
            <a:endParaRPr/>
          </a:p>
        </p:txBody>
      </p:sp>
      <p:grpSp>
        <p:nvGrpSpPr>
          <p:cNvPr id="117" name="Google Shape;117;p10"/>
          <p:cNvGrpSpPr/>
          <p:nvPr/>
        </p:nvGrpSpPr>
        <p:grpSpPr>
          <a:xfrm>
            <a:off x="9299102" y="3547417"/>
            <a:ext cx="3637859" cy="5958464"/>
            <a:chOff x="0" y="-9525"/>
            <a:chExt cx="999000" cy="1684800"/>
          </a:xfrm>
        </p:grpSpPr>
        <p:sp>
          <p:nvSpPr>
            <p:cNvPr id="118" name="Google Shape;118;p10"/>
            <p:cNvSpPr/>
            <p:nvPr/>
          </p:nvSpPr>
          <p:spPr>
            <a:xfrm>
              <a:off x="0" y="0"/>
              <a:ext cx="998884" cy="1675238"/>
            </a:xfrm>
            <a:custGeom>
              <a:rect b="b" l="l" r="r" t="t"/>
              <a:pathLst>
                <a:path extrusionOk="0" h="1675238" w="998884">
                  <a:moveTo>
                    <a:pt x="0" y="0"/>
                  </a:moveTo>
                  <a:lnTo>
                    <a:pt x="998884" y="0"/>
                  </a:lnTo>
                  <a:lnTo>
                    <a:pt x="998884" y="1675238"/>
                  </a:lnTo>
                  <a:lnTo>
                    <a:pt x="0" y="1675238"/>
                  </a:lnTo>
                  <a:close/>
                </a:path>
              </a:pathLst>
            </a:custGeom>
            <a:solidFill>
              <a:srgbClr val="FFFFFF"/>
            </a:solidFill>
            <a:ln>
              <a:noFill/>
            </a:ln>
          </p:spPr>
        </p:sp>
        <p:sp>
          <p:nvSpPr>
            <p:cNvPr id="119" name="Google Shape;119;p10"/>
            <p:cNvSpPr txBox="1"/>
            <p:nvPr/>
          </p:nvSpPr>
          <p:spPr>
            <a:xfrm>
              <a:off x="0" y="-9525"/>
              <a:ext cx="999000" cy="16848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20" name="Google Shape;120;p10"/>
          <p:cNvCxnSpPr/>
          <p:nvPr/>
        </p:nvCxnSpPr>
        <p:spPr>
          <a:xfrm>
            <a:off x="9477461" y="5039921"/>
            <a:ext cx="3263100" cy="0"/>
          </a:xfrm>
          <a:prstGeom prst="straightConnector1">
            <a:avLst/>
          </a:prstGeom>
          <a:noFill/>
          <a:ln cap="flat" cmpd="sng" w="38100">
            <a:solidFill>
              <a:srgbClr val="FF3131"/>
            </a:solidFill>
            <a:prstDash val="solid"/>
            <a:round/>
            <a:headEnd len="sm" w="sm" type="none"/>
            <a:tailEnd len="sm" w="sm" type="none"/>
          </a:ln>
        </p:spPr>
      </p:cxnSp>
      <p:cxnSp>
        <p:nvCxnSpPr>
          <p:cNvPr id="121" name="Google Shape;121;p10"/>
          <p:cNvCxnSpPr/>
          <p:nvPr/>
        </p:nvCxnSpPr>
        <p:spPr>
          <a:xfrm>
            <a:off x="9477461" y="6524418"/>
            <a:ext cx="3263100" cy="0"/>
          </a:xfrm>
          <a:prstGeom prst="straightConnector1">
            <a:avLst/>
          </a:prstGeom>
          <a:noFill/>
          <a:ln cap="flat" cmpd="sng" w="38100">
            <a:solidFill>
              <a:srgbClr val="FF3131"/>
            </a:solidFill>
            <a:prstDash val="solid"/>
            <a:round/>
            <a:headEnd len="sm" w="sm" type="none"/>
            <a:tailEnd len="sm" w="sm" type="none"/>
          </a:ln>
        </p:spPr>
      </p:cxnSp>
      <p:cxnSp>
        <p:nvCxnSpPr>
          <p:cNvPr id="122" name="Google Shape;122;p10"/>
          <p:cNvCxnSpPr/>
          <p:nvPr/>
        </p:nvCxnSpPr>
        <p:spPr>
          <a:xfrm>
            <a:off x="9477461" y="8008916"/>
            <a:ext cx="3263100" cy="0"/>
          </a:xfrm>
          <a:prstGeom prst="straightConnector1">
            <a:avLst/>
          </a:prstGeom>
          <a:noFill/>
          <a:ln cap="flat" cmpd="sng" w="38100">
            <a:solidFill>
              <a:srgbClr val="FF3131"/>
            </a:solidFill>
            <a:prstDash val="solid"/>
            <a:round/>
            <a:headEnd len="sm" w="sm" type="none"/>
            <a:tailEnd len="sm" w="sm" type="none"/>
          </a:ln>
        </p:spPr>
      </p:cxnSp>
      <p:grpSp>
        <p:nvGrpSpPr>
          <p:cNvPr id="123" name="Google Shape;123;p10"/>
          <p:cNvGrpSpPr/>
          <p:nvPr/>
        </p:nvGrpSpPr>
        <p:grpSpPr>
          <a:xfrm>
            <a:off x="9299102" y="2124002"/>
            <a:ext cx="3637859" cy="1112968"/>
            <a:chOff x="0" y="-9525"/>
            <a:chExt cx="999000" cy="314700"/>
          </a:xfrm>
        </p:grpSpPr>
        <p:sp>
          <p:nvSpPr>
            <p:cNvPr id="124" name="Google Shape;124;p10"/>
            <p:cNvSpPr/>
            <p:nvPr/>
          </p:nvSpPr>
          <p:spPr>
            <a:xfrm>
              <a:off x="0" y="0"/>
              <a:ext cx="998884" cy="305066"/>
            </a:xfrm>
            <a:custGeom>
              <a:rect b="b" l="l" r="r" t="t"/>
              <a:pathLst>
                <a:path extrusionOk="0" h="305066" w="998884">
                  <a:moveTo>
                    <a:pt x="0" y="0"/>
                  </a:moveTo>
                  <a:lnTo>
                    <a:pt x="998884" y="0"/>
                  </a:lnTo>
                  <a:lnTo>
                    <a:pt x="998884" y="305066"/>
                  </a:lnTo>
                  <a:lnTo>
                    <a:pt x="0" y="305066"/>
                  </a:lnTo>
                  <a:close/>
                </a:path>
              </a:pathLst>
            </a:custGeom>
            <a:solidFill>
              <a:srgbClr val="FFFFFF"/>
            </a:solidFill>
            <a:ln>
              <a:noFill/>
            </a:ln>
          </p:spPr>
        </p:sp>
        <p:sp>
          <p:nvSpPr>
            <p:cNvPr id="125" name="Google Shape;125;p10"/>
            <p:cNvSpPr txBox="1"/>
            <p:nvPr/>
          </p:nvSpPr>
          <p:spPr>
            <a:xfrm>
              <a:off x="0" y="-9525"/>
              <a:ext cx="999000" cy="3147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6" name="Google Shape;126;p10"/>
          <p:cNvGrpSpPr/>
          <p:nvPr/>
        </p:nvGrpSpPr>
        <p:grpSpPr>
          <a:xfrm>
            <a:off x="13231653" y="2124002"/>
            <a:ext cx="4213580" cy="1112968"/>
            <a:chOff x="0" y="-9525"/>
            <a:chExt cx="1157100" cy="314700"/>
          </a:xfrm>
        </p:grpSpPr>
        <p:sp>
          <p:nvSpPr>
            <p:cNvPr id="127" name="Google Shape;127;p10"/>
            <p:cNvSpPr/>
            <p:nvPr/>
          </p:nvSpPr>
          <p:spPr>
            <a:xfrm>
              <a:off x="0" y="0"/>
              <a:ext cx="1156956" cy="305066"/>
            </a:xfrm>
            <a:custGeom>
              <a:rect b="b" l="l" r="r" t="t"/>
              <a:pathLst>
                <a:path extrusionOk="0" h="305066" w="1156956">
                  <a:moveTo>
                    <a:pt x="0" y="0"/>
                  </a:moveTo>
                  <a:lnTo>
                    <a:pt x="1156956" y="0"/>
                  </a:lnTo>
                  <a:lnTo>
                    <a:pt x="1156956" y="305066"/>
                  </a:lnTo>
                  <a:lnTo>
                    <a:pt x="0" y="305066"/>
                  </a:lnTo>
                  <a:close/>
                </a:path>
              </a:pathLst>
            </a:custGeom>
            <a:solidFill>
              <a:srgbClr val="FFFFFF"/>
            </a:solidFill>
            <a:ln>
              <a:noFill/>
            </a:ln>
          </p:spPr>
        </p:sp>
        <p:sp>
          <p:nvSpPr>
            <p:cNvPr id="128" name="Google Shape;128;p10"/>
            <p:cNvSpPr txBox="1"/>
            <p:nvPr/>
          </p:nvSpPr>
          <p:spPr>
            <a:xfrm>
              <a:off x="0" y="-9525"/>
              <a:ext cx="1157100" cy="3147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9" name="Google Shape;129;p10"/>
          <p:cNvGrpSpPr/>
          <p:nvPr/>
        </p:nvGrpSpPr>
        <p:grpSpPr>
          <a:xfrm>
            <a:off x="13231653" y="3547417"/>
            <a:ext cx="4213580" cy="5958464"/>
            <a:chOff x="0" y="-9525"/>
            <a:chExt cx="1157100" cy="1684800"/>
          </a:xfrm>
        </p:grpSpPr>
        <p:sp>
          <p:nvSpPr>
            <p:cNvPr id="130" name="Google Shape;130;p10"/>
            <p:cNvSpPr/>
            <p:nvPr/>
          </p:nvSpPr>
          <p:spPr>
            <a:xfrm>
              <a:off x="0" y="0"/>
              <a:ext cx="1156956" cy="1675238"/>
            </a:xfrm>
            <a:custGeom>
              <a:rect b="b" l="l" r="r" t="t"/>
              <a:pathLst>
                <a:path extrusionOk="0" h="1675238" w="1156956">
                  <a:moveTo>
                    <a:pt x="0" y="0"/>
                  </a:moveTo>
                  <a:lnTo>
                    <a:pt x="1156956" y="0"/>
                  </a:lnTo>
                  <a:lnTo>
                    <a:pt x="1156956" y="1675238"/>
                  </a:lnTo>
                  <a:lnTo>
                    <a:pt x="0" y="1675238"/>
                  </a:lnTo>
                  <a:close/>
                </a:path>
              </a:pathLst>
            </a:custGeom>
            <a:solidFill>
              <a:srgbClr val="FFFFFF"/>
            </a:solidFill>
            <a:ln>
              <a:noFill/>
            </a:ln>
          </p:spPr>
        </p:sp>
        <p:sp>
          <p:nvSpPr>
            <p:cNvPr id="131" name="Google Shape;131;p10"/>
            <p:cNvSpPr txBox="1"/>
            <p:nvPr/>
          </p:nvSpPr>
          <p:spPr>
            <a:xfrm>
              <a:off x="0" y="-9525"/>
              <a:ext cx="1157100" cy="16848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32" name="Google Shape;132;p10"/>
          <p:cNvCxnSpPr/>
          <p:nvPr/>
        </p:nvCxnSpPr>
        <p:spPr>
          <a:xfrm>
            <a:off x="13463717" y="5039921"/>
            <a:ext cx="3748800" cy="0"/>
          </a:xfrm>
          <a:prstGeom prst="straightConnector1">
            <a:avLst/>
          </a:prstGeom>
          <a:noFill/>
          <a:ln cap="flat" cmpd="sng" w="38100">
            <a:solidFill>
              <a:srgbClr val="FF3131"/>
            </a:solidFill>
            <a:prstDash val="solid"/>
            <a:round/>
            <a:headEnd len="sm" w="sm" type="none"/>
            <a:tailEnd len="sm" w="sm" type="none"/>
          </a:ln>
        </p:spPr>
      </p:cxnSp>
      <p:cxnSp>
        <p:nvCxnSpPr>
          <p:cNvPr id="133" name="Google Shape;133;p10"/>
          <p:cNvCxnSpPr/>
          <p:nvPr/>
        </p:nvCxnSpPr>
        <p:spPr>
          <a:xfrm>
            <a:off x="13463717" y="6524418"/>
            <a:ext cx="3748800" cy="0"/>
          </a:xfrm>
          <a:prstGeom prst="straightConnector1">
            <a:avLst/>
          </a:prstGeom>
          <a:noFill/>
          <a:ln cap="flat" cmpd="sng" w="38100">
            <a:solidFill>
              <a:srgbClr val="FF3131"/>
            </a:solidFill>
            <a:prstDash val="solid"/>
            <a:round/>
            <a:headEnd len="sm" w="sm" type="none"/>
            <a:tailEnd len="sm" w="sm" type="none"/>
          </a:ln>
        </p:spPr>
      </p:cxnSp>
      <p:cxnSp>
        <p:nvCxnSpPr>
          <p:cNvPr id="134" name="Google Shape;134;p10"/>
          <p:cNvCxnSpPr/>
          <p:nvPr/>
        </p:nvCxnSpPr>
        <p:spPr>
          <a:xfrm>
            <a:off x="13463717" y="8008916"/>
            <a:ext cx="3748800" cy="0"/>
          </a:xfrm>
          <a:prstGeom prst="straightConnector1">
            <a:avLst/>
          </a:prstGeom>
          <a:noFill/>
          <a:ln cap="flat" cmpd="sng" w="38100">
            <a:solidFill>
              <a:srgbClr val="FF3131"/>
            </a:solidFill>
            <a:prstDash val="solid"/>
            <a:round/>
            <a:headEnd len="sm" w="sm" type="none"/>
            <a:tailEnd len="sm" w="sm" type="none"/>
          </a:ln>
        </p:spPr>
      </p:cxnSp>
      <p:sp>
        <p:nvSpPr>
          <p:cNvPr id="135" name="Google Shape;135;p10"/>
          <p:cNvSpPr txBox="1"/>
          <p:nvPr/>
        </p:nvSpPr>
        <p:spPr>
          <a:xfrm>
            <a:off x="9478474" y="4135809"/>
            <a:ext cx="3263100" cy="554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3600">
                <a:solidFill>
                  <a:srgbClr val="FF6D42"/>
                </a:solidFill>
                <a:latin typeface="DM Sans"/>
                <a:ea typeface="DM Sans"/>
                <a:cs typeface="DM Sans"/>
                <a:sym typeface="DM Sans"/>
              </a:rPr>
              <a:t>Age </a:t>
            </a:r>
            <a:endParaRPr/>
          </a:p>
        </p:txBody>
      </p:sp>
      <p:sp>
        <p:nvSpPr>
          <p:cNvPr id="136" name="Google Shape;136;p10"/>
          <p:cNvSpPr txBox="1"/>
          <p:nvPr/>
        </p:nvSpPr>
        <p:spPr>
          <a:xfrm>
            <a:off x="9478461" y="5228082"/>
            <a:ext cx="3263100" cy="110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3600">
                <a:solidFill>
                  <a:srgbClr val="FF6D42"/>
                </a:solidFill>
                <a:latin typeface="DM Sans"/>
                <a:ea typeface="DM Sans"/>
                <a:cs typeface="DM Sans"/>
                <a:sym typeface="DM Sans"/>
              </a:rPr>
              <a:t>Purchase Frequency </a:t>
            </a:r>
            <a:endParaRPr/>
          </a:p>
        </p:txBody>
      </p:sp>
      <p:sp>
        <p:nvSpPr>
          <p:cNvPr id="137" name="Google Shape;137;p10"/>
          <p:cNvSpPr txBox="1"/>
          <p:nvPr/>
        </p:nvSpPr>
        <p:spPr>
          <a:xfrm>
            <a:off x="9478474" y="6989630"/>
            <a:ext cx="3263100" cy="554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3600">
                <a:solidFill>
                  <a:srgbClr val="FF6D42"/>
                </a:solidFill>
                <a:latin typeface="DM Sans"/>
                <a:ea typeface="DM Sans"/>
                <a:cs typeface="DM Sans"/>
                <a:sym typeface="DM Sans"/>
              </a:rPr>
              <a:t>Income </a:t>
            </a:r>
            <a:endParaRPr/>
          </a:p>
        </p:txBody>
      </p:sp>
      <p:sp>
        <p:nvSpPr>
          <p:cNvPr id="138" name="Google Shape;138;p10"/>
          <p:cNvSpPr txBox="1"/>
          <p:nvPr/>
        </p:nvSpPr>
        <p:spPr>
          <a:xfrm>
            <a:off x="9478474" y="8176176"/>
            <a:ext cx="3263100" cy="110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3600">
                <a:solidFill>
                  <a:srgbClr val="FF6D42"/>
                </a:solidFill>
                <a:latin typeface="DM Sans"/>
                <a:ea typeface="DM Sans"/>
                <a:cs typeface="DM Sans"/>
                <a:sym typeface="DM Sans"/>
              </a:rPr>
              <a:t>Average Spending</a:t>
            </a:r>
            <a:endParaRPr/>
          </a:p>
        </p:txBody>
      </p:sp>
      <p:sp>
        <p:nvSpPr>
          <p:cNvPr id="139" name="Google Shape;139;p10"/>
          <p:cNvSpPr txBox="1"/>
          <p:nvPr/>
        </p:nvSpPr>
        <p:spPr>
          <a:xfrm>
            <a:off x="9299102" y="2412773"/>
            <a:ext cx="3619800" cy="646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4200">
                <a:solidFill>
                  <a:srgbClr val="FF6D42"/>
                </a:solidFill>
                <a:latin typeface="DM Sans"/>
                <a:ea typeface="DM Sans"/>
                <a:cs typeface="DM Sans"/>
                <a:sym typeface="DM Sans"/>
              </a:rPr>
              <a:t>Variable</a:t>
            </a:r>
            <a:endParaRPr/>
          </a:p>
        </p:txBody>
      </p:sp>
      <p:sp>
        <p:nvSpPr>
          <p:cNvPr id="140" name="Google Shape;140;p10"/>
          <p:cNvSpPr txBox="1"/>
          <p:nvPr/>
        </p:nvSpPr>
        <p:spPr>
          <a:xfrm>
            <a:off x="13706614" y="2412773"/>
            <a:ext cx="3263100" cy="646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4200">
                <a:solidFill>
                  <a:srgbClr val="FF6D42"/>
                </a:solidFill>
                <a:latin typeface="DM Sans"/>
                <a:ea typeface="DM Sans"/>
                <a:cs typeface="DM Sans"/>
                <a:sym typeface="DM Sans"/>
              </a:rPr>
              <a:t>Description</a:t>
            </a:r>
            <a:endParaRPr/>
          </a:p>
        </p:txBody>
      </p:sp>
      <p:sp>
        <p:nvSpPr>
          <p:cNvPr id="141" name="Google Shape;141;p10"/>
          <p:cNvSpPr txBox="1"/>
          <p:nvPr/>
        </p:nvSpPr>
        <p:spPr>
          <a:xfrm>
            <a:off x="13479792" y="4176307"/>
            <a:ext cx="3748800" cy="2910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lang="en-US" sz="2100">
                <a:solidFill>
                  <a:srgbClr val="FF6D42"/>
                </a:solidFill>
                <a:latin typeface="DM Sans"/>
                <a:ea typeface="DM Sans"/>
                <a:cs typeface="DM Sans"/>
                <a:sym typeface="DM Sans"/>
              </a:rPr>
              <a:t>Customer's age in years</a:t>
            </a:r>
            <a:endParaRPr/>
          </a:p>
        </p:txBody>
      </p:sp>
      <p:sp>
        <p:nvSpPr>
          <p:cNvPr id="142" name="Google Shape;142;p10"/>
          <p:cNvSpPr txBox="1"/>
          <p:nvPr/>
        </p:nvSpPr>
        <p:spPr>
          <a:xfrm>
            <a:off x="13479792" y="5636667"/>
            <a:ext cx="3748800" cy="5817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lang="en-US" sz="2100">
                <a:solidFill>
                  <a:srgbClr val="FF6D42"/>
                </a:solidFill>
                <a:latin typeface="DM Sans"/>
                <a:ea typeface="DM Sans"/>
                <a:cs typeface="DM Sans"/>
                <a:sym typeface="DM Sans"/>
              </a:rPr>
              <a:t>Number of purchases made to date by customer</a:t>
            </a:r>
            <a:endParaRPr/>
          </a:p>
        </p:txBody>
      </p:sp>
      <p:sp>
        <p:nvSpPr>
          <p:cNvPr id="143" name="Google Shape;143;p10"/>
          <p:cNvSpPr txBox="1"/>
          <p:nvPr/>
        </p:nvSpPr>
        <p:spPr>
          <a:xfrm>
            <a:off x="13463717" y="7121163"/>
            <a:ext cx="3748800" cy="5817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lang="en-US" sz="2100">
                <a:solidFill>
                  <a:srgbClr val="FF6D42"/>
                </a:solidFill>
                <a:latin typeface="DM Sans"/>
                <a:ea typeface="DM Sans"/>
                <a:cs typeface="DM Sans"/>
                <a:sym typeface="DM Sans"/>
              </a:rPr>
              <a:t>Customer annual household income in USD</a:t>
            </a:r>
            <a:endParaRPr/>
          </a:p>
        </p:txBody>
      </p:sp>
      <p:sp>
        <p:nvSpPr>
          <p:cNvPr id="144" name="Google Shape;144;p10"/>
          <p:cNvSpPr txBox="1"/>
          <p:nvPr/>
        </p:nvSpPr>
        <p:spPr>
          <a:xfrm>
            <a:off x="13479792" y="8605674"/>
            <a:ext cx="3748800" cy="581700"/>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lang="en-US" sz="2100">
                <a:solidFill>
                  <a:srgbClr val="FF6D42"/>
                </a:solidFill>
                <a:latin typeface="DM Sans"/>
                <a:ea typeface="DM Sans"/>
                <a:cs typeface="DM Sans"/>
                <a:sym typeface="DM Sans"/>
              </a:rPr>
              <a:t>Customer’s average amount spent per order in USD</a:t>
            </a:r>
            <a:endParaRPr/>
          </a:p>
        </p:txBody>
      </p:sp>
      <p:sp>
        <p:nvSpPr>
          <p:cNvPr id="145" name="Google Shape;145;p10"/>
          <p:cNvSpPr txBox="1"/>
          <p:nvPr/>
        </p:nvSpPr>
        <p:spPr>
          <a:xfrm>
            <a:off x="842775" y="801250"/>
            <a:ext cx="123588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rgbClr val="FFFFFF"/>
                </a:solidFill>
                <a:latin typeface="DM Sans"/>
                <a:ea typeface="DM Sans"/>
                <a:cs typeface="DM Sans"/>
                <a:sym typeface="DM Sans"/>
              </a:rPr>
              <a:t>Dataset Overview</a:t>
            </a:r>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6" scaled="0"/>
        </a:gradFill>
      </p:bgPr>
    </p:bg>
    <p:spTree>
      <p:nvGrpSpPr>
        <p:cNvPr id="149" name="Shape 149"/>
        <p:cNvGrpSpPr/>
        <p:nvPr/>
      </p:nvGrpSpPr>
      <p:grpSpPr>
        <a:xfrm>
          <a:off x="0" y="0"/>
          <a:ext cx="0" cy="0"/>
          <a:chOff x="0" y="0"/>
          <a:chExt cx="0" cy="0"/>
        </a:xfrm>
      </p:grpSpPr>
      <p:pic>
        <p:nvPicPr>
          <p:cNvPr id="150" name="Google Shape;150;p11"/>
          <p:cNvPicPr preferRelativeResize="0"/>
          <p:nvPr/>
        </p:nvPicPr>
        <p:blipFill>
          <a:blip r:embed="rId3">
            <a:alphaModFix/>
          </a:blip>
          <a:stretch>
            <a:fillRect/>
          </a:stretch>
        </p:blipFill>
        <p:spPr>
          <a:xfrm>
            <a:off x="11802250" y="-3734425"/>
            <a:ext cx="15128224" cy="15537843"/>
          </a:xfrm>
          <a:prstGeom prst="rect">
            <a:avLst/>
          </a:prstGeom>
          <a:noFill/>
          <a:ln>
            <a:noFill/>
          </a:ln>
        </p:spPr>
      </p:pic>
      <p:sp>
        <p:nvSpPr>
          <p:cNvPr id="151" name="Google Shape;151;p11"/>
          <p:cNvSpPr txBox="1"/>
          <p:nvPr/>
        </p:nvSpPr>
        <p:spPr>
          <a:xfrm>
            <a:off x="1028700" y="870109"/>
            <a:ext cx="81153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rgbClr val="FFFFFF"/>
                </a:solidFill>
                <a:latin typeface="DM Sans"/>
                <a:ea typeface="DM Sans"/>
                <a:cs typeface="DM Sans"/>
                <a:sym typeface="DM Sans"/>
              </a:rPr>
              <a:t>Data Cleaning</a:t>
            </a:r>
            <a:endParaRPr/>
          </a:p>
        </p:txBody>
      </p:sp>
      <p:sp>
        <p:nvSpPr>
          <p:cNvPr id="152" name="Google Shape;152;p11"/>
          <p:cNvSpPr txBox="1"/>
          <p:nvPr/>
        </p:nvSpPr>
        <p:spPr>
          <a:xfrm>
            <a:off x="1110100" y="2577050"/>
            <a:ext cx="13381800" cy="4694700"/>
          </a:xfrm>
          <a:prstGeom prst="rect">
            <a:avLst/>
          </a:prstGeom>
          <a:noFill/>
          <a:ln>
            <a:noFill/>
          </a:ln>
        </p:spPr>
        <p:txBody>
          <a:bodyPr anchorCtr="0" anchor="t" bIns="0" lIns="0" spcFirstLastPara="1" rIns="0" wrap="square" tIns="0">
            <a:spAutoFit/>
          </a:bodyPr>
          <a:lstStyle/>
          <a:p>
            <a:pPr indent="-482600" lvl="0" marL="457200" marR="0" rtl="0" algn="l">
              <a:lnSpc>
                <a:spcPct val="100000"/>
              </a:lnSpc>
              <a:spcBef>
                <a:spcPts val="0"/>
              </a:spcBef>
              <a:spcAft>
                <a:spcPts val="0"/>
              </a:spcAft>
              <a:buClr>
                <a:schemeClr val="lt1"/>
              </a:buClr>
              <a:buSzPts val="4000"/>
              <a:buFont typeface="DM Sans"/>
              <a:buAutoNum type="arabicPeriod"/>
            </a:pPr>
            <a:r>
              <a:rPr b="1" lang="en-US" sz="4000">
                <a:solidFill>
                  <a:schemeClr val="lt1"/>
                </a:solidFill>
                <a:latin typeface="DM Sans"/>
                <a:ea typeface="DM Sans"/>
                <a:cs typeface="DM Sans"/>
                <a:sym typeface="DM Sans"/>
              </a:rPr>
              <a:t>Converted Features to </a:t>
            </a:r>
            <a:r>
              <a:rPr b="1" lang="en-US" sz="4000">
                <a:solidFill>
                  <a:schemeClr val="lt1"/>
                </a:solidFill>
                <a:latin typeface="DM Sans"/>
                <a:ea typeface="DM Sans"/>
                <a:cs typeface="DM Sans"/>
                <a:sym typeface="DM Sans"/>
              </a:rPr>
              <a:t>Appropriate</a:t>
            </a:r>
            <a:r>
              <a:rPr b="1" lang="en-US" sz="4000">
                <a:solidFill>
                  <a:schemeClr val="lt1"/>
                </a:solidFill>
                <a:latin typeface="DM Sans"/>
                <a:ea typeface="DM Sans"/>
                <a:cs typeface="DM Sans"/>
                <a:sym typeface="DM Sans"/>
              </a:rPr>
              <a:t> Data Types</a:t>
            </a:r>
            <a:endParaRPr b="1" sz="4000">
              <a:solidFill>
                <a:schemeClr val="lt1"/>
              </a:solidFill>
              <a:latin typeface="DM Sans"/>
              <a:ea typeface="DM Sans"/>
              <a:cs typeface="DM Sans"/>
              <a:sym typeface="DM Sans"/>
            </a:endParaRPr>
          </a:p>
          <a:p>
            <a:pPr indent="0" lvl="0" marL="0" marR="0" rtl="0" algn="l">
              <a:lnSpc>
                <a:spcPct val="100000"/>
              </a:lnSpc>
              <a:spcBef>
                <a:spcPts val="0"/>
              </a:spcBef>
              <a:spcAft>
                <a:spcPts val="0"/>
              </a:spcAft>
              <a:buNone/>
            </a:pPr>
            <a:r>
              <a:t/>
            </a:r>
            <a:endParaRPr b="1" sz="4000">
              <a:solidFill>
                <a:schemeClr val="lt1"/>
              </a:solidFill>
              <a:latin typeface="DM Sans"/>
              <a:ea typeface="DM Sans"/>
              <a:cs typeface="DM Sans"/>
              <a:sym typeface="DM Sans"/>
            </a:endParaRPr>
          </a:p>
          <a:p>
            <a:pPr indent="-482600" lvl="0" marL="457200" rtl="0" algn="l">
              <a:spcBef>
                <a:spcPts val="0"/>
              </a:spcBef>
              <a:spcAft>
                <a:spcPts val="0"/>
              </a:spcAft>
              <a:buClr>
                <a:schemeClr val="lt1"/>
              </a:buClr>
              <a:buSzPts val="4000"/>
              <a:buFont typeface="DM Sans"/>
              <a:buAutoNum type="arabicPeriod"/>
            </a:pPr>
            <a:r>
              <a:rPr b="1" lang="en-US" sz="4000">
                <a:solidFill>
                  <a:schemeClr val="lt1"/>
                </a:solidFill>
                <a:latin typeface="DM Sans"/>
                <a:ea typeface="DM Sans"/>
                <a:cs typeface="DM Sans"/>
                <a:sym typeface="DM Sans"/>
              </a:rPr>
              <a:t>Identifying Features with NA Values</a:t>
            </a:r>
            <a:endParaRPr b="1" sz="4000">
              <a:solidFill>
                <a:schemeClr val="lt1"/>
              </a:solidFill>
              <a:latin typeface="DM Sans"/>
              <a:ea typeface="DM Sans"/>
              <a:cs typeface="DM Sans"/>
              <a:sym typeface="DM Sans"/>
            </a:endParaRPr>
          </a:p>
          <a:p>
            <a:pPr indent="0" lvl="0" marL="0" rtl="0" algn="l">
              <a:spcBef>
                <a:spcPts val="0"/>
              </a:spcBef>
              <a:spcAft>
                <a:spcPts val="0"/>
              </a:spcAft>
              <a:buNone/>
            </a:pPr>
            <a:r>
              <a:t/>
            </a:r>
            <a:endParaRPr b="1" sz="4000">
              <a:solidFill>
                <a:schemeClr val="lt1"/>
              </a:solidFill>
              <a:latin typeface="DM Sans"/>
              <a:ea typeface="DM Sans"/>
              <a:cs typeface="DM Sans"/>
              <a:sym typeface="DM Sans"/>
            </a:endParaRPr>
          </a:p>
          <a:p>
            <a:pPr indent="-482600" lvl="0" marL="457200" marR="0" rtl="0" algn="l">
              <a:lnSpc>
                <a:spcPct val="100000"/>
              </a:lnSpc>
              <a:spcBef>
                <a:spcPts val="0"/>
              </a:spcBef>
              <a:spcAft>
                <a:spcPts val="0"/>
              </a:spcAft>
              <a:buClr>
                <a:srgbClr val="FFFFFF"/>
              </a:buClr>
              <a:buSzPts val="4000"/>
              <a:buFont typeface="DM Sans"/>
              <a:buAutoNum type="arabicPeriod"/>
            </a:pPr>
            <a:r>
              <a:rPr b="1" lang="en-US" sz="4000">
                <a:solidFill>
                  <a:srgbClr val="FFFFFF"/>
                </a:solidFill>
                <a:latin typeface="DM Sans"/>
                <a:ea typeface="DM Sans"/>
                <a:cs typeface="DM Sans"/>
                <a:sym typeface="DM Sans"/>
              </a:rPr>
              <a:t>Regression Model to Impute NAs</a:t>
            </a:r>
            <a:endParaRPr b="1" sz="4000">
              <a:solidFill>
                <a:srgbClr val="FFFFFF"/>
              </a:solidFill>
              <a:latin typeface="DM Sans"/>
              <a:ea typeface="DM Sans"/>
              <a:cs typeface="DM Sans"/>
              <a:sym typeface="DM Sans"/>
            </a:endParaRPr>
          </a:p>
          <a:p>
            <a:pPr indent="0" lvl="0" marL="0" marR="0" rtl="0" algn="l">
              <a:lnSpc>
                <a:spcPct val="100000"/>
              </a:lnSpc>
              <a:spcBef>
                <a:spcPts val="0"/>
              </a:spcBef>
              <a:spcAft>
                <a:spcPts val="0"/>
              </a:spcAft>
              <a:buNone/>
            </a:pPr>
            <a:r>
              <a:t/>
            </a:r>
            <a:endParaRPr b="1" sz="4000">
              <a:solidFill>
                <a:srgbClr val="FFFFFF"/>
              </a:solidFill>
              <a:latin typeface="DM Sans"/>
              <a:ea typeface="DM Sans"/>
              <a:cs typeface="DM Sans"/>
              <a:sym typeface="DM Sans"/>
            </a:endParaRPr>
          </a:p>
          <a:p>
            <a:pPr indent="-482600" lvl="0" marL="457200" marR="0" rtl="0" algn="l">
              <a:lnSpc>
                <a:spcPct val="100000"/>
              </a:lnSpc>
              <a:spcBef>
                <a:spcPts val="0"/>
              </a:spcBef>
              <a:spcAft>
                <a:spcPts val="0"/>
              </a:spcAft>
              <a:buClr>
                <a:srgbClr val="FFFFFF"/>
              </a:buClr>
              <a:buSzPts val="4000"/>
              <a:buFont typeface="DM Sans"/>
              <a:buAutoNum type="arabicPeriod"/>
            </a:pPr>
            <a:r>
              <a:rPr b="1" lang="en-US" sz="4000">
                <a:solidFill>
                  <a:srgbClr val="FFFFFF"/>
                </a:solidFill>
                <a:latin typeface="DM Sans"/>
                <a:ea typeface="DM Sans"/>
                <a:cs typeface="DM Sans"/>
                <a:sym typeface="DM Sans"/>
              </a:rPr>
              <a:t>Logistic Regression to Impute NAs</a:t>
            </a:r>
            <a:endParaRPr b="1" sz="4000">
              <a:solidFill>
                <a:srgbClr val="FFFFFF"/>
              </a:solidFill>
              <a:latin typeface="DM Sans"/>
              <a:ea typeface="DM Sans"/>
              <a:cs typeface="DM Sans"/>
              <a:sym typeface="DM Sans"/>
            </a:endParaRPr>
          </a:p>
          <a:p>
            <a:pPr indent="0" lvl="0" marL="0" marR="0" rtl="0" algn="l">
              <a:lnSpc>
                <a:spcPct val="100000"/>
              </a:lnSpc>
              <a:spcBef>
                <a:spcPts val="0"/>
              </a:spcBef>
              <a:spcAft>
                <a:spcPts val="0"/>
              </a:spcAft>
              <a:buNone/>
            </a:pPr>
            <a:r>
              <a:t/>
            </a:r>
            <a:endParaRPr b="1" sz="2500">
              <a:solidFill>
                <a:srgbClr val="FFFFFF"/>
              </a:solidFill>
              <a:latin typeface="DM Sans"/>
              <a:ea typeface="DM Sans"/>
              <a:cs typeface="DM Sans"/>
              <a:sym typeface="DM Sans"/>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6" scaled="0"/>
        </a:gradFill>
      </p:bgPr>
    </p:bg>
    <p:spTree>
      <p:nvGrpSpPr>
        <p:cNvPr id="156" name="Shape 156"/>
        <p:cNvGrpSpPr/>
        <p:nvPr/>
      </p:nvGrpSpPr>
      <p:grpSpPr>
        <a:xfrm>
          <a:off x="0" y="0"/>
          <a:ext cx="0" cy="0"/>
          <a:chOff x="0" y="0"/>
          <a:chExt cx="0" cy="0"/>
        </a:xfrm>
      </p:grpSpPr>
      <p:sp>
        <p:nvSpPr>
          <p:cNvPr id="157" name="Google Shape;157;p12"/>
          <p:cNvSpPr txBox="1"/>
          <p:nvPr/>
        </p:nvSpPr>
        <p:spPr>
          <a:xfrm>
            <a:off x="1028700" y="870109"/>
            <a:ext cx="8115300" cy="1725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t/>
            </a:r>
            <a:endParaRPr/>
          </a:p>
        </p:txBody>
      </p:sp>
      <p:sp>
        <p:nvSpPr>
          <p:cNvPr id="158" name="Google Shape;158;p12"/>
          <p:cNvSpPr txBox="1"/>
          <p:nvPr/>
        </p:nvSpPr>
        <p:spPr>
          <a:xfrm>
            <a:off x="1257300" y="2334700"/>
            <a:ext cx="4750800" cy="1976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t/>
            </a:r>
            <a:endParaRPr sz="2400">
              <a:solidFill>
                <a:schemeClr val="lt1"/>
              </a:solidFill>
            </a:endParaRPr>
          </a:p>
          <a:p>
            <a:pPr indent="0" lvl="0" marL="914400" marR="0" rtl="0" algn="l">
              <a:lnSpc>
                <a:spcPct val="80000"/>
              </a:lnSpc>
              <a:spcBef>
                <a:spcPts val="0"/>
              </a:spcBef>
              <a:spcAft>
                <a:spcPts val="0"/>
              </a:spcAft>
              <a:buNone/>
            </a:pPr>
            <a:r>
              <a:t/>
            </a:r>
            <a:endParaRPr b="1" sz="4200">
              <a:solidFill>
                <a:srgbClr val="FFFFFF"/>
              </a:solidFill>
              <a:latin typeface="DM Sans"/>
              <a:ea typeface="DM Sans"/>
              <a:cs typeface="DM Sans"/>
              <a:sym typeface="DM Sans"/>
            </a:endParaRPr>
          </a:p>
          <a:p>
            <a:pPr indent="0" lvl="0" marL="0" marR="0" rtl="0" algn="l">
              <a:lnSpc>
                <a:spcPct val="80000"/>
              </a:lnSpc>
              <a:spcBef>
                <a:spcPts val="0"/>
              </a:spcBef>
              <a:spcAft>
                <a:spcPts val="0"/>
              </a:spcAft>
              <a:buNone/>
            </a:pPr>
            <a:r>
              <a:t/>
            </a:r>
            <a:endParaRPr b="1" sz="4200">
              <a:solidFill>
                <a:srgbClr val="FFFFFF"/>
              </a:solidFill>
              <a:latin typeface="DM Sans"/>
              <a:ea typeface="DM Sans"/>
              <a:cs typeface="DM Sans"/>
              <a:sym typeface="DM Sans"/>
            </a:endParaRPr>
          </a:p>
          <a:p>
            <a:pPr indent="0" lvl="0" marL="0" marR="0" rtl="0" algn="l">
              <a:lnSpc>
                <a:spcPct val="80000"/>
              </a:lnSpc>
              <a:spcBef>
                <a:spcPts val="0"/>
              </a:spcBef>
              <a:spcAft>
                <a:spcPts val="0"/>
              </a:spcAft>
              <a:buNone/>
            </a:pPr>
            <a:r>
              <a:t/>
            </a:r>
            <a:endParaRPr b="1" sz="4200">
              <a:solidFill>
                <a:srgbClr val="FFFFFF"/>
              </a:solidFill>
              <a:latin typeface="DM Sans"/>
              <a:ea typeface="DM Sans"/>
              <a:cs typeface="DM Sans"/>
              <a:sym typeface="DM Sans"/>
            </a:endParaRPr>
          </a:p>
        </p:txBody>
      </p:sp>
      <p:sp>
        <p:nvSpPr>
          <p:cNvPr id="159" name="Google Shape;159;p12"/>
          <p:cNvSpPr txBox="1"/>
          <p:nvPr/>
        </p:nvSpPr>
        <p:spPr>
          <a:xfrm>
            <a:off x="906225" y="4938050"/>
            <a:ext cx="3795600" cy="3020400"/>
          </a:xfrm>
          <a:prstGeom prst="rect">
            <a:avLst/>
          </a:prstGeom>
          <a:noFill/>
          <a:ln>
            <a:noFill/>
          </a:ln>
        </p:spPr>
        <p:txBody>
          <a:bodyPr anchorCtr="0" anchor="t" bIns="91425" lIns="91425" spcFirstLastPara="1" rIns="91425" wrap="square" tIns="91425">
            <a:noAutofit/>
          </a:bodyPr>
          <a:lstStyle/>
          <a:p>
            <a:pPr indent="-501650" lvl="0" marL="457200" rtl="0" algn="l">
              <a:spcBef>
                <a:spcPts val="0"/>
              </a:spcBef>
              <a:spcAft>
                <a:spcPts val="0"/>
              </a:spcAft>
              <a:buClr>
                <a:schemeClr val="lt1"/>
              </a:buClr>
              <a:buSzPts val="4300"/>
              <a:buFont typeface="DM Sans"/>
              <a:buChar char="●"/>
            </a:pPr>
            <a:r>
              <a:rPr lang="en-US" sz="4300">
                <a:solidFill>
                  <a:schemeClr val="lt1"/>
                </a:solidFill>
              </a:rPr>
              <a:t>5 Features</a:t>
            </a:r>
            <a:endParaRPr sz="4300">
              <a:solidFill>
                <a:schemeClr val="lt1"/>
              </a:solidFill>
            </a:endParaRPr>
          </a:p>
          <a:p>
            <a:pPr indent="-501650" lvl="0" marL="457200" rtl="0" algn="l">
              <a:spcBef>
                <a:spcPts val="0"/>
              </a:spcBef>
              <a:spcAft>
                <a:spcPts val="0"/>
              </a:spcAft>
              <a:buClr>
                <a:schemeClr val="lt1"/>
              </a:buClr>
              <a:buSzPts val="4300"/>
              <a:buChar char="●"/>
            </a:pPr>
            <a:r>
              <a:rPr lang="en-US" sz="4300">
                <a:solidFill>
                  <a:schemeClr val="lt1"/>
                </a:solidFill>
              </a:rPr>
              <a:t>Converted from Strings to Logicals</a:t>
            </a:r>
            <a:endParaRPr sz="4300">
              <a:solidFill>
                <a:schemeClr val="lt1"/>
              </a:solidFill>
            </a:endParaRPr>
          </a:p>
        </p:txBody>
      </p:sp>
      <p:pic>
        <p:nvPicPr>
          <p:cNvPr id="160" name="Google Shape;160;p12"/>
          <p:cNvPicPr preferRelativeResize="0"/>
          <p:nvPr/>
        </p:nvPicPr>
        <p:blipFill>
          <a:blip r:embed="rId3">
            <a:alphaModFix/>
          </a:blip>
          <a:stretch>
            <a:fillRect/>
          </a:stretch>
        </p:blipFill>
        <p:spPr>
          <a:xfrm>
            <a:off x="5096925" y="3198950"/>
            <a:ext cx="12945348" cy="6498600"/>
          </a:xfrm>
          <a:prstGeom prst="rect">
            <a:avLst/>
          </a:prstGeom>
          <a:noFill/>
          <a:ln>
            <a:noFill/>
          </a:ln>
        </p:spPr>
      </p:pic>
      <p:sp>
        <p:nvSpPr>
          <p:cNvPr id="161" name="Google Shape;161;p12"/>
          <p:cNvSpPr txBox="1"/>
          <p:nvPr/>
        </p:nvSpPr>
        <p:spPr>
          <a:xfrm>
            <a:off x="984450" y="870100"/>
            <a:ext cx="16319100" cy="18222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7399">
                <a:solidFill>
                  <a:srgbClr val="FFFFFF"/>
                </a:solidFill>
                <a:latin typeface="DM Sans"/>
                <a:ea typeface="DM Sans"/>
                <a:cs typeface="DM Sans"/>
                <a:sym typeface="DM Sans"/>
              </a:rPr>
              <a:t>Converting Features to Appropriate Data Types</a:t>
            </a:r>
            <a:endParaRPr sz="40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6" scaled="0"/>
        </a:gradFill>
      </p:bgPr>
    </p:bg>
    <p:spTree>
      <p:nvGrpSpPr>
        <p:cNvPr id="165" name="Shape 165"/>
        <p:cNvGrpSpPr/>
        <p:nvPr/>
      </p:nvGrpSpPr>
      <p:grpSpPr>
        <a:xfrm>
          <a:off x="0" y="0"/>
          <a:ext cx="0" cy="0"/>
          <a:chOff x="0" y="0"/>
          <a:chExt cx="0" cy="0"/>
        </a:xfrm>
      </p:grpSpPr>
      <p:sp>
        <p:nvSpPr>
          <p:cNvPr id="166" name="Google Shape;166;p13"/>
          <p:cNvSpPr txBox="1"/>
          <p:nvPr/>
        </p:nvSpPr>
        <p:spPr>
          <a:xfrm>
            <a:off x="1028700" y="870109"/>
            <a:ext cx="8115300" cy="1725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t/>
            </a:r>
            <a:endParaRPr/>
          </a:p>
        </p:txBody>
      </p:sp>
      <p:sp>
        <p:nvSpPr>
          <p:cNvPr id="167" name="Google Shape;167;p13"/>
          <p:cNvSpPr txBox="1"/>
          <p:nvPr/>
        </p:nvSpPr>
        <p:spPr>
          <a:xfrm>
            <a:off x="994788" y="2334700"/>
            <a:ext cx="16298400" cy="4383900"/>
          </a:xfrm>
          <a:prstGeom prst="rect">
            <a:avLst/>
          </a:prstGeom>
          <a:noFill/>
          <a:ln>
            <a:noFill/>
          </a:ln>
        </p:spPr>
        <p:txBody>
          <a:bodyPr anchorCtr="0" anchor="t" bIns="0" lIns="0" spcFirstLastPara="1" rIns="0" wrap="square" tIns="0">
            <a:spAutoFit/>
          </a:bodyPr>
          <a:lstStyle/>
          <a:p>
            <a:pPr indent="-431800" lvl="0" marL="457200" marR="0" rtl="0" algn="l">
              <a:lnSpc>
                <a:spcPct val="115000"/>
              </a:lnSpc>
              <a:spcBef>
                <a:spcPts val="0"/>
              </a:spcBef>
              <a:spcAft>
                <a:spcPts val="0"/>
              </a:spcAft>
              <a:buClr>
                <a:schemeClr val="lt1"/>
              </a:buClr>
              <a:buSzPts val="3200"/>
              <a:buChar char="●"/>
            </a:pPr>
            <a:r>
              <a:rPr lang="en-US" sz="3200">
                <a:solidFill>
                  <a:schemeClr val="lt1"/>
                </a:solidFill>
              </a:rPr>
              <a:t>The table displays the number of missing values for each column, revealing patterns in data gaps.</a:t>
            </a:r>
            <a:endParaRPr sz="3200">
              <a:solidFill>
                <a:schemeClr val="lt1"/>
              </a:solidFill>
            </a:endParaRPr>
          </a:p>
          <a:p>
            <a:pPr indent="0" lvl="0" marL="0" marR="0" rtl="0" algn="l">
              <a:lnSpc>
                <a:spcPct val="115000"/>
              </a:lnSpc>
              <a:spcBef>
                <a:spcPts val="0"/>
              </a:spcBef>
              <a:spcAft>
                <a:spcPts val="0"/>
              </a:spcAft>
              <a:buNone/>
            </a:pPr>
            <a:r>
              <a:t/>
            </a:r>
            <a:endParaRPr sz="3200">
              <a:solidFill>
                <a:schemeClr val="lt1"/>
              </a:solidFill>
            </a:endParaRPr>
          </a:p>
          <a:p>
            <a:pPr indent="-431800" lvl="0" marL="457200" marR="0" rtl="0" algn="l">
              <a:lnSpc>
                <a:spcPct val="115000"/>
              </a:lnSpc>
              <a:spcBef>
                <a:spcPts val="0"/>
              </a:spcBef>
              <a:spcAft>
                <a:spcPts val="0"/>
              </a:spcAft>
              <a:buClr>
                <a:schemeClr val="lt1"/>
              </a:buClr>
              <a:buSzPts val="3200"/>
              <a:buChar char="●"/>
            </a:pPr>
            <a:r>
              <a:rPr lang="en-US" sz="3200">
                <a:solidFill>
                  <a:schemeClr val="lt1"/>
                </a:solidFill>
              </a:rPr>
              <a:t>The </a:t>
            </a:r>
            <a:r>
              <a:rPr b="1" lang="en-US" sz="3200">
                <a:solidFill>
                  <a:schemeClr val="lt1"/>
                </a:solidFill>
              </a:rPr>
              <a:t>"Age"</a:t>
            </a:r>
            <a:r>
              <a:rPr lang="en-US" sz="3200">
                <a:solidFill>
                  <a:schemeClr val="lt1"/>
                </a:solidFill>
              </a:rPr>
              <a:t>, </a:t>
            </a:r>
            <a:r>
              <a:rPr b="1" lang="en-US" sz="3200">
                <a:solidFill>
                  <a:schemeClr val="lt1"/>
                </a:solidFill>
              </a:rPr>
              <a:t>"Income"</a:t>
            </a:r>
            <a:r>
              <a:rPr lang="en-US" sz="3200">
                <a:solidFill>
                  <a:schemeClr val="lt1"/>
                </a:solidFill>
              </a:rPr>
              <a:t>, and </a:t>
            </a:r>
            <a:r>
              <a:rPr b="1" lang="en-US" sz="3200">
                <a:solidFill>
                  <a:schemeClr val="lt1"/>
                </a:solidFill>
              </a:rPr>
              <a:t>"Homeowner"</a:t>
            </a:r>
            <a:r>
              <a:rPr lang="en-US" sz="3200">
                <a:solidFill>
                  <a:schemeClr val="lt1"/>
                </a:solidFill>
              </a:rPr>
              <a:t> features have </a:t>
            </a:r>
            <a:r>
              <a:rPr b="1" lang="en-US" sz="3200">
                <a:solidFill>
                  <a:schemeClr val="lt1"/>
                </a:solidFill>
              </a:rPr>
              <a:t>50</a:t>
            </a:r>
            <a:r>
              <a:rPr lang="en-US" sz="3200">
                <a:solidFill>
                  <a:schemeClr val="lt1"/>
                </a:solidFill>
              </a:rPr>
              <a:t>, </a:t>
            </a:r>
            <a:r>
              <a:rPr b="1" lang="en-US" sz="3200">
                <a:solidFill>
                  <a:schemeClr val="lt1"/>
                </a:solidFill>
              </a:rPr>
              <a:t>30</a:t>
            </a:r>
            <a:r>
              <a:rPr lang="en-US" sz="3200">
                <a:solidFill>
                  <a:schemeClr val="lt1"/>
                </a:solidFill>
              </a:rPr>
              <a:t>, and </a:t>
            </a:r>
            <a:r>
              <a:rPr b="1" lang="en-US" sz="3200">
                <a:solidFill>
                  <a:schemeClr val="lt1"/>
                </a:solidFill>
              </a:rPr>
              <a:t>307 missing values respectively</a:t>
            </a:r>
            <a:r>
              <a:rPr lang="en-US" sz="3200">
                <a:solidFill>
                  <a:schemeClr val="lt1"/>
                </a:solidFill>
              </a:rPr>
              <a:t>.</a:t>
            </a:r>
            <a:endParaRPr sz="3200">
              <a:solidFill>
                <a:schemeClr val="lt1"/>
              </a:solidFill>
            </a:endParaRPr>
          </a:p>
          <a:p>
            <a:pPr indent="0" lvl="0" marL="914400" marR="0" rtl="0" algn="l">
              <a:lnSpc>
                <a:spcPct val="80000"/>
              </a:lnSpc>
              <a:spcBef>
                <a:spcPts val="0"/>
              </a:spcBef>
              <a:spcAft>
                <a:spcPts val="0"/>
              </a:spcAft>
              <a:buNone/>
            </a:pPr>
            <a:r>
              <a:t/>
            </a:r>
            <a:endParaRPr b="1" sz="4200">
              <a:solidFill>
                <a:srgbClr val="FFFFFF"/>
              </a:solidFill>
              <a:latin typeface="DM Sans"/>
              <a:ea typeface="DM Sans"/>
              <a:cs typeface="DM Sans"/>
              <a:sym typeface="DM Sans"/>
            </a:endParaRPr>
          </a:p>
          <a:p>
            <a:pPr indent="0" lvl="0" marL="0" marR="0" rtl="0" algn="l">
              <a:lnSpc>
                <a:spcPct val="80000"/>
              </a:lnSpc>
              <a:spcBef>
                <a:spcPts val="0"/>
              </a:spcBef>
              <a:spcAft>
                <a:spcPts val="0"/>
              </a:spcAft>
              <a:buNone/>
            </a:pPr>
            <a:r>
              <a:t/>
            </a:r>
            <a:endParaRPr b="1" sz="4200">
              <a:solidFill>
                <a:srgbClr val="FFFFFF"/>
              </a:solidFill>
              <a:latin typeface="DM Sans"/>
              <a:ea typeface="DM Sans"/>
              <a:cs typeface="DM Sans"/>
              <a:sym typeface="DM Sans"/>
            </a:endParaRPr>
          </a:p>
          <a:p>
            <a:pPr indent="0" lvl="0" marL="0" marR="0" rtl="0" algn="l">
              <a:lnSpc>
                <a:spcPct val="80000"/>
              </a:lnSpc>
              <a:spcBef>
                <a:spcPts val="0"/>
              </a:spcBef>
              <a:spcAft>
                <a:spcPts val="0"/>
              </a:spcAft>
              <a:buNone/>
            </a:pPr>
            <a:r>
              <a:t/>
            </a:r>
            <a:endParaRPr b="1" sz="4200">
              <a:solidFill>
                <a:srgbClr val="FFFFFF"/>
              </a:solidFill>
              <a:latin typeface="DM Sans"/>
              <a:ea typeface="DM Sans"/>
              <a:cs typeface="DM Sans"/>
              <a:sym typeface="DM Sans"/>
            </a:endParaRPr>
          </a:p>
        </p:txBody>
      </p:sp>
      <p:pic>
        <p:nvPicPr>
          <p:cNvPr id="168" name="Google Shape;168;p13"/>
          <p:cNvPicPr preferRelativeResize="0"/>
          <p:nvPr/>
        </p:nvPicPr>
        <p:blipFill>
          <a:blip r:embed="rId3">
            <a:alphaModFix/>
          </a:blip>
          <a:stretch>
            <a:fillRect/>
          </a:stretch>
        </p:blipFill>
        <p:spPr>
          <a:xfrm>
            <a:off x="559238" y="6099616"/>
            <a:ext cx="17169525" cy="2951810"/>
          </a:xfrm>
          <a:prstGeom prst="rect">
            <a:avLst/>
          </a:prstGeom>
          <a:noFill/>
          <a:ln>
            <a:noFill/>
          </a:ln>
        </p:spPr>
      </p:pic>
      <p:sp>
        <p:nvSpPr>
          <p:cNvPr id="169" name="Google Shape;169;p13"/>
          <p:cNvSpPr txBox="1"/>
          <p:nvPr/>
        </p:nvSpPr>
        <p:spPr>
          <a:xfrm>
            <a:off x="984450" y="870100"/>
            <a:ext cx="16744200" cy="9111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7399">
                <a:solidFill>
                  <a:srgbClr val="FFFFFF"/>
                </a:solidFill>
                <a:latin typeface="DM Sans"/>
                <a:ea typeface="DM Sans"/>
                <a:cs typeface="DM Sans"/>
                <a:sym typeface="DM Sans"/>
              </a:rPr>
              <a:t>Identifying Features with NA Values</a:t>
            </a:r>
            <a:endParaRPr sz="40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6" scaled="0"/>
        </a:gradFill>
      </p:bgPr>
    </p:bg>
    <p:spTree>
      <p:nvGrpSpPr>
        <p:cNvPr id="173" name="Shape 173"/>
        <p:cNvGrpSpPr/>
        <p:nvPr/>
      </p:nvGrpSpPr>
      <p:grpSpPr>
        <a:xfrm>
          <a:off x="0" y="0"/>
          <a:ext cx="0" cy="0"/>
          <a:chOff x="0" y="0"/>
          <a:chExt cx="0" cy="0"/>
        </a:xfrm>
      </p:grpSpPr>
      <p:sp>
        <p:nvSpPr>
          <p:cNvPr id="174" name="Google Shape;174;p14"/>
          <p:cNvSpPr txBox="1"/>
          <p:nvPr/>
        </p:nvSpPr>
        <p:spPr>
          <a:xfrm>
            <a:off x="1028700" y="870109"/>
            <a:ext cx="8115300" cy="1725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t/>
            </a:r>
            <a:endParaRPr/>
          </a:p>
        </p:txBody>
      </p:sp>
      <p:sp>
        <p:nvSpPr>
          <p:cNvPr id="175" name="Google Shape;175;p14"/>
          <p:cNvSpPr txBox="1"/>
          <p:nvPr/>
        </p:nvSpPr>
        <p:spPr>
          <a:xfrm>
            <a:off x="1028700" y="4479225"/>
            <a:ext cx="4750800" cy="2191800"/>
          </a:xfrm>
          <a:prstGeom prst="rect">
            <a:avLst/>
          </a:prstGeom>
          <a:noFill/>
          <a:ln>
            <a:noFill/>
          </a:ln>
        </p:spPr>
        <p:txBody>
          <a:bodyPr anchorCtr="0" anchor="t" bIns="0" lIns="0" spcFirstLastPara="1" rIns="0" wrap="square" tIns="0">
            <a:spAutoFit/>
          </a:bodyPr>
          <a:lstStyle/>
          <a:p>
            <a:pPr indent="-431800" lvl="0" marL="457200" marR="0" rtl="0" algn="l">
              <a:lnSpc>
                <a:spcPct val="115000"/>
              </a:lnSpc>
              <a:spcBef>
                <a:spcPts val="0"/>
              </a:spcBef>
              <a:spcAft>
                <a:spcPts val="0"/>
              </a:spcAft>
              <a:buClr>
                <a:schemeClr val="lt1"/>
              </a:buClr>
              <a:buSzPts val="3200"/>
              <a:buChar char="●"/>
            </a:pPr>
            <a:r>
              <a:rPr lang="en-US" sz="3200">
                <a:solidFill>
                  <a:schemeClr val="lt1"/>
                </a:solidFill>
              </a:rPr>
              <a:t>impute_missing_values Function Created</a:t>
            </a:r>
            <a:endParaRPr sz="3200">
              <a:solidFill>
                <a:schemeClr val="lt1"/>
              </a:solidFill>
            </a:endParaRPr>
          </a:p>
          <a:p>
            <a:pPr indent="-431800" lvl="0" marL="457200" marR="0" rtl="0" algn="l">
              <a:lnSpc>
                <a:spcPct val="115000"/>
              </a:lnSpc>
              <a:spcBef>
                <a:spcPts val="0"/>
              </a:spcBef>
              <a:spcAft>
                <a:spcPts val="0"/>
              </a:spcAft>
              <a:buClr>
                <a:schemeClr val="lt1"/>
              </a:buClr>
              <a:buSzPts val="3200"/>
              <a:buChar char="●"/>
            </a:pPr>
            <a:r>
              <a:rPr lang="en-US" sz="3200">
                <a:solidFill>
                  <a:schemeClr val="lt1"/>
                </a:solidFill>
              </a:rPr>
              <a:t>Predict and impute </a:t>
            </a:r>
            <a:r>
              <a:rPr b="1" lang="en-US" sz="3200" u="sng">
                <a:solidFill>
                  <a:schemeClr val="lt1"/>
                </a:solidFill>
              </a:rPr>
              <a:t>Age</a:t>
            </a:r>
            <a:r>
              <a:rPr lang="en-US" sz="3200">
                <a:solidFill>
                  <a:schemeClr val="lt1"/>
                </a:solidFill>
              </a:rPr>
              <a:t> and </a:t>
            </a:r>
            <a:r>
              <a:rPr b="1" lang="en-US" sz="3200" u="sng">
                <a:solidFill>
                  <a:schemeClr val="lt1"/>
                </a:solidFill>
              </a:rPr>
              <a:t>Income</a:t>
            </a:r>
            <a:r>
              <a:rPr lang="en-US" sz="3200">
                <a:solidFill>
                  <a:schemeClr val="lt1"/>
                </a:solidFill>
              </a:rPr>
              <a:t> NA values.</a:t>
            </a:r>
            <a:endParaRPr sz="3200">
              <a:solidFill>
                <a:schemeClr val="lt1"/>
              </a:solidFill>
            </a:endParaRPr>
          </a:p>
        </p:txBody>
      </p:sp>
      <p:pic>
        <p:nvPicPr>
          <p:cNvPr id="176" name="Google Shape;176;p14"/>
          <p:cNvPicPr preferRelativeResize="0"/>
          <p:nvPr/>
        </p:nvPicPr>
        <p:blipFill>
          <a:blip r:embed="rId3">
            <a:alphaModFix/>
          </a:blip>
          <a:stretch>
            <a:fillRect/>
          </a:stretch>
        </p:blipFill>
        <p:spPr>
          <a:xfrm>
            <a:off x="6238075" y="2692300"/>
            <a:ext cx="11638626" cy="7021201"/>
          </a:xfrm>
          <a:prstGeom prst="rect">
            <a:avLst/>
          </a:prstGeom>
          <a:noFill/>
          <a:ln>
            <a:noFill/>
          </a:ln>
        </p:spPr>
      </p:pic>
      <p:sp>
        <p:nvSpPr>
          <p:cNvPr id="177" name="Google Shape;177;p14"/>
          <p:cNvSpPr txBox="1"/>
          <p:nvPr/>
        </p:nvSpPr>
        <p:spPr>
          <a:xfrm>
            <a:off x="984450" y="870100"/>
            <a:ext cx="16319100" cy="9111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7399">
                <a:solidFill>
                  <a:srgbClr val="FFFFFF"/>
                </a:solidFill>
                <a:latin typeface="DM Sans"/>
                <a:ea typeface="DM Sans"/>
                <a:cs typeface="DM Sans"/>
                <a:sym typeface="DM Sans"/>
              </a:rPr>
              <a:t>Regression Model to Impute NAs</a:t>
            </a:r>
            <a:endParaRPr b="1" sz="7399">
              <a:solidFill>
                <a:srgbClr val="FFFFFF"/>
              </a:solidFill>
              <a:latin typeface="DM Sans"/>
              <a:ea typeface="DM Sans"/>
              <a:cs typeface="DM Sans"/>
              <a:sym typeface="DM Sans"/>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6" scaled="0"/>
        </a:gradFill>
      </p:bgPr>
    </p:bg>
    <p:spTree>
      <p:nvGrpSpPr>
        <p:cNvPr id="181" name="Shape 181"/>
        <p:cNvGrpSpPr/>
        <p:nvPr/>
      </p:nvGrpSpPr>
      <p:grpSpPr>
        <a:xfrm>
          <a:off x="0" y="0"/>
          <a:ext cx="0" cy="0"/>
          <a:chOff x="0" y="0"/>
          <a:chExt cx="0" cy="0"/>
        </a:xfrm>
      </p:grpSpPr>
      <p:sp>
        <p:nvSpPr>
          <p:cNvPr id="182" name="Google Shape;182;p15"/>
          <p:cNvSpPr txBox="1"/>
          <p:nvPr/>
        </p:nvSpPr>
        <p:spPr>
          <a:xfrm>
            <a:off x="1028700" y="870109"/>
            <a:ext cx="8115300" cy="1725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t/>
            </a:r>
            <a:endParaRPr/>
          </a:p>
        </p:txBody>
      </p:sp>
      <p:sp>
        <p:nvSpPr>
          <p:cNvPr id="183" name="Google Shape;183;p15"/>
          <p:cNvSpPr txBox="1"/>
          <p:nvPr/>
        </p:nvSpPr>
        <p:spPr>
          <a:xfrm>
            <a:off x="673375" y="4005458"/>
            <a:ext cx="4750800" cy="4457700"/>
          </a:xfrm>
          <a:prstGeom prst="rect">
            <a:avLst/>
          </a:prstGeom>
          <a:noFill/>
          <a:ln>
            <a:noFill/>
          </a:ln>
        </p:spPr>
        <p:txBody>
          <a:bodyPr anchorCtr="0" anchor="t" bIns="0" lIns="0" spcFirstLastPara="1" rIns="0" wrap="square" tIns="0">
            <a:spAutoFit/>
          </a:bodyPr>
          <a:lstStyle/>
          <a:p>
            <a:pPr indent="-431800" lvl="0" marL="457200" marR="0" rtl="0" algn="l">
              <a:lnSpc>
                <a:spcPct val="115000"/>
              </a:lnSpc>
              <a:spcBef>
                <a:spcPts val="0"/>
              </a:spcBef>
              <a:spcAft>
                <a:spcPts val="0"/>
              </a:spcAft>
              <a:buClr>
                <a:schemeClr val="lt1"/>
              </a:buClr>
              <a:buSzPts val="3200"/>
              <a:buChar char="●"/>
            </a:pPr>
            <a:r>
              <a:rPr lang="en-US" sz="3200">
                <a:solidFill>
                  <a:schemeClr val="lt1"/>
                </a:solidFill>
              </a:rPr>
              <a:t>A logistic regression model was trained to predict </a:t>
            </a:r>
            <a:r>
              <a:rPr b="1" lang="en-US" sz="3200" u="sng">
                <a:solidFill>
                  <a:schemeClr val="lt1"/>
                </a:solidFill>
              </a:rPr>
              <a:t>Homeowner</a:t>
            </a:r>
            <a:r>
              <a:rPr lang="en-US" sz="3200">
                <a:solidFill>
                  <a:schemeClr val="lt1"/>
                </a:solidFill>
              </a:rPr>
              <a:t> status using all the features in the dataset. </a:t>
            </a:r>
            <a:endParaRPr sz="3200">
              <a:solidFill>
                <a:schemeClr val="lt1"/>
              </a:solidFill>
            </a:endParaRPr>
          </a:p>
          <a:p>
            <a:pPr indent="-431800" lvl="0" marL="457200" marR="0" rtl="0" algn="l">
              <a:lnSpc>
                <a:spcPct val="115000"/>
              </a:lnSpc>
              <a:spcBef>
                <a:spcPts val="0"/>
              </a:spcBef>
              <a:spcAft>
                <a:spcPts val="0"/>
              </a:spcAft>
              <a:buClr>
                <a:schemeClr val="lt1"/>
              </a:buClr>
              <a:buSzPts val="3200"/>
              <a:buChar char="●"/>
            </a:pPr>
            <a:r>
              <a:rPr lang="en-US" sz="3200">
                <a:solidFill>
                  <a:schemeClr val="lt1"/>
                </a:solidFill>
              </a:rPr>
              <a:t>Results</a:t>
            </a:r>
            <a:endParaRPr sz="3200">
              <a:solidFill>
                <a:schemeClr val="lt1"/>
              </a:solidFill>
            </a:endParaRPr>
          </a:p>
          <a:p>
            <a:pPr indent="-431800" lvl="1" marL="914400" marR="0" rtl="0" algn="l">
              <a:lnSpc>
                <a:spcPct val="115000"/>
              </a:lnSpc>
              <a:spcBef>
                <a:spcPts val="0"/>
              </a:spcBef>
              <a:spcAft>
                <a:spcPts val="0"/>
              </a:spcAft>
              <a:buClr>
                <a:schemeClr val="lt1"/>
              </a:buClr>
              <a:buSzPts val="3200"/>
              <a:buChar char="○"/>
            </a:pPr>
            <a:r>
              <a:rPr lang="en-US" sz="3200">
                <a:solidFill>
                  <a:schemeClr val="lt1"/>
                </a:solidFill>
              </a:rPr>
              <a:t>&gt; 0.5   -&gt;    True</a:t>
            </a:r>
            <a:endParaRPr sz="3200">
              <a:solidFill>
                <a:schemeClr val="lt1"/>
              </a:solidFill>
            </a:endParaRPr>
          </a:p>
          <a:p>
            <a:pPr indent="-431800" lvl="1" marL="914400" marR="0" rtl="0" algn="l">
              <a:lnSpc>
                <a:spcPct val="115000"/>
              </a:lnSpc>
              <a:spcBef>
                <a:spcPts val="0"/>
              </a:spcBef>
              <a:spcAft>
                <a:spcPts val="0"/>
              </a:spcAft>
              <a:buClr>
                <a:schemeClr val="lt1"/>
              </a:buClr>
              <a:buSzPts val="3200"/>
              <a:buChar char="○"/>
            </a:pPr>
            <a:r>
              <a:rPr lang="en-US" sz="3200">
                <a:solidFill>
                  <a:schemeClr val="lt1"/>
                </a:solidFill>
              </a:rPr>
              <a:t>&lt; 0.5   -&gt;    False</a:t>
            </a:r>
            <a:endParaRPr sz="3200">
              <a:solidFill>
                <a:schemeClr val="lt1"/>
              </a:solidFill>
            </a:endParaRPr>
          </a:p>
        </p:txBody>
      </p:sp>
      <p:pic>
        <p:nvPicPr>
          <p:cNvPr id="184" name="Google Shape;184;p15"/>
          <p:cNvPicPr preferRelativeResize="0"/>
          <p:nvPr/>
        </p:nvPicPr>
        <p:blipFill>
          <a:blip r:embed="rId3">
            <a:alphaModFix/>
          </a:blip>
          <a:stretch>
            <a:fillRect/>
          </a:stretch>
        </p:blipFill>
        <p:spPr>
          <a:xfrm>
            <a:off x="5683950" y="2917575"/>
            <a:ext cx="12203699" cy="6633480"/>
          </a:xfrm>
          <a:prstGeom prst="rect">
            <a:avLst/>
          </a:prstGeom>
          <a:noFill/>
          <a:ln>
            <a:noFill/>
          </a:ln>
        </p:spPr>
      </p:pic>
      <p:sp>
        <p:nvSpPr>
          <p:cNvPr id="185" name="Google Shape;185;p15"/>
          <p:cNvSpPr txBox="1"/>
          <p:nvPr/>
        </p:nvSpPr>
        <p:spPr>
          <a:xfrm>
            <a:off x="984450" y="870100"/>
            <a:ext cx="16319100" cy="9111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7399">
                <a:solidFill>
                  <a:srgbClr val="FFFFFF"/>
                </a:solidFill>
                <a:latin typeface="DM Sans"/>
                <a:ea typeface="DM Sans"/>
                <a:cs typeface="DM Sans"/>
                <a:sym typeface="DM Sans"/>
              </a:rPr>
              <a:t>Logistic Regression to Impute NAs</a:t>
            </a:r>
            <a:endParaRPr b="1" sz="7399">
              <a:solidFill>
                <a:srgbClr val="FFFFFF"/>
              </a:solidFill>
              <a:latin typeface="DM Sans"/>
              <a:ea typeface="DM Sans"/>
              <a:cs typeface="DM Sans"/>
              <a:sym typeface="DM Sans"/>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16"/>
          <p:cNvPicPr preferRelativeResize="0"/>
          <p:nvPr/>
        </p:nvPicPr>
        <p:blipFill>
          <a:blip r:embed="rId3">
            <a:alphaModFix/>
          </a:blip>
          <a:stretch>
            <a:fillRect/>
          </a:stretch>
        </p:blipFill>
        <p:spPr>
          <a:xfrm>
            <a:off x="-853675" y="-2362575"/>
            <a:ext cx="19141673" cy="19141673"/>
          </a:xfrm>
          <a:prstGeom prst="rect">
            <a:avLst/>
          </a:prstGeom>
          <a:noFill/>
          <a:ln>
            <a:noFill/>
          </a:ln>
        </p:spPr>
      </p:pic>
      <p:sp>
        <p:nvSpPr>
          <p:cNvPr id="191" name="Google Shape;191;p16"/>
          <p:cNvSpPr txBox="1"/>
          <p:nvPr/>
        </p:nvSpPr>
        <p:spPr>
          <a:xfrm>
            <a:off x="1028700" y="1414920"/>
            <a:ext cx="16230600" cy="25614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10400">
                <a:solidFill>
                  <a:srgbClr val="FF6D42"/>
                </a:solidFill>
                <a:latin typeface="DM Sans"/>
                <a:ea typeface="DM Sans"/>
                <a:cs typeface="DM Sans"/>
                <a:sym typeface="DM Sans"/>
              </a:rPr>
              <a:t>Exploratory </a:t>
            </a:r>
            <a:endParaRPr b="1" sz="10400">
              <a:solidFill>
                <a:srgbClr val="FF6D42"/>
              </a:solidFill>
              <a:latin typeface="DM Sans"/>
              <a:ea typeface="DM Sans"/>
              <a:cs typeface="DM Sans"/>
              <a:sym typeface="DM Sans"/>
            </a:endParaRPr>
          </a:p>
          <a:p>
            <a:pPr indent="0" lvl="0" marL="0" marR="0" rtl="0" algn="l">
              <a:lnSpc>
                <a:spcPct val="80000"/>
              </a:lnSpc>
              <a:spcBef>
                <a:spcPts val="0"/>
              </a:spcBef>
              <a:spcAft>
                <a:spcPts val="0"/>
              </a:spcAft>
              <a:buNone/>
            </a:pPr>
            <a:r>
              <a:rPr b="1" lang="en-US" sz="10400">
                <a:solidFill>
                  <a:srgbClr val="FF6D42"/>
                </a:solidFill>
                <a:latin typeface="DM Sans"/>
                <a:ea typeface="DM Sans"/>
                <a:cs typeface="DM Sans"/>
                <a:sym typeface="DM Sans"/>
              </a:rPr>
              <a:t>Data Analysis (EDA)</a:t>
            </a:r>
            <a:endParaRPr/>
          </a:p>
        </p:txBody>
      </p:sp>
      <p:sp>
        <p:nvSpPr>
          <p:cNvPr id="192" name="Google Shape;192;p16"/>
          <p:cNvSpPr txBox="1"/>
          <p:nvPr/>
        </p:nvSpPr>
        <p:spPr>
          <a:xfrm>
            <a:off x="1028700" y="4596875"/>
            <a:ext cx="7886700" cy="3297000"/>
          </a:xfrm>
          <a:prstGeom prst="rect">
            <a:avLst/>
          </a:prstGeom>
          <a:noFill/>
          <a:ln>
            <a:noFill/>
          </a:ln>
        </p:spPr>
        <p:txBody>
          <a:bodyPr anchorCtr="0" anchor="t" bIns="0" lIns="0" spcFirstLastPara="1" rIns="0" wrap="square" tIns="0">
            <a:spAutoFit/>
          </a:bodyPr>
          <a:lstStyle/>
          <a:p>
            <a:pPr indent="-457200" lvl="0" marL="457200" rtl="0" algn="l">
              <a:lnSpc>
                <a:spcPct val="115000"/>
              </a:lnSpc>
              <a:spcBef>
                <a:spcPts val="0"/>
              </a:spcBef>
              <a:spcAft>
                <a:spcPts val="0"/>
              </a:spcAft>
              <a:buClr>
                <a:srgbClr val="FF6D42"/>
              </a:buClr>
              <a:buSzPts val="3600"/>
              <a:buFont typeface="DM Sans"/>
              <a:buAutoNum type="arabicPeriod"/>
            </a:pPr>
            <a:r>
              <a:rPr b="1" lang="en-US" sz="3600">
                <a:solidFill>
                  <a:srgbClr val="FF6D42"/>
                </a:solidFill>
                <a:latin typeface="DM Sans"/>
                <a:ea typeface="DM Sans"/>
                <a:cs typeface="DM Sans"/>
                <a:sym typeface="DM Sans"/>
              </a:rPr>
              <a:t>Customer Segments</a:t>
            </a:r>
            <a:endParaRPr b="1" sz="2100">
              <a:solidFill>
                <a:srgbClr val="FF6D42"/>
              </a:solidFill>
              <a:latin typeface="DM Sans"/>
              <a:ea typeface="DM Sans"/>
              <a:cs typeface="DM Sans"/>
              <a:sym typeface="DM Sans"/>
            </a:endParaRPr>
          </a:p>
          <a:p>
            <a:pPr indent="0" lvl="0" marL="457200" marR="0" rtl="0" algn="l">
              <a:lnSpc>
                <a:spcPct val="80000"/>
              </a:lnSpc>
              <a:spcBef>
                <a:spcPts val="0"/>
              </a:spcBef>
              <a:spcAft>
                <a:spcPts val="0"/>
              </a:spcAft>
              <a:buNone/>
            </a:pPr>
            <a:r>
              <a:t/>
            </a:r>
            <a:endParaRPr b="1" sz="3600">
              <a:solidFill>
                <a:srgbClr val="FF6D42"/>
              </a:solidFill>
              <a:latin typeface="DM Sans"/>
              <a:ea typeface="DM Sans"/>
              <a:cs typeface="DM Sans"/>
              <a:sym typeface="DM Sans"/>
            </a:endParaRPr>
          </a:p>
          <a:p>
            <a:pPr indent="-457200" lvl="0" marL="457200" rtl="0" algn="l">
              <a:lnSpc>
                <a:spcPct val="80000"/>
              </a:lnSpc>
              <a:spcBef>
                <a:spcPts val="0"/>
              </a:spcBef>
              <a:spcAft>
                <a:spcPts val="0"/>
              </a:spcAft>
              <a:buClr>
                <a:srgbClr val="FF6D42"/>
              </a:buClr>
              <a:buSzPts val="3600"/>
              <a:buFont typeface="DM Sans"/>
              <a:buAutoNum type="arabicPeriod"/>
            </a:pPr>
            <a:r>
              <a:rPr b="1" lang="en-US" sz="3600">
                <a:solidFill>
                  <a:srgbClr val="FF6D42"/>
                </a:solidFill>
                <a:latin typeface="DM Sans"/>
                <a:ea typeface="DM Sans"/>
                <a:cs typeface="DM Sans"/>
                <a:sym typeface="DM Sans"/>
              </a:rPr>
              <a:t>Products and Services</a:t>
            </a:r>
            <a:endParaRPr b="1" sz="2100">
              <a:solidFill>
                <a:srgbClr val="FF6D42"/>
              </a:solidFill>
              <a:latin typeface="DM Sans"/>
              <a:ea typeface="DM Sans"/>
              <a:cs typeface="DM Sans"/>
              <a:sym typeface="DM Sans"/>
            </a:endParaRPr>
          </a:p>
          <a:p>
            <a:pPr indent="0" lvl="0" marL="457200" marR="0" rtl="0" algn="l">
              <a:lnSpc>
                <a:spcPct val="80000"/>
              </a:lnSpc>
              <a:spcBef>
                <a:spcPts val="0"/>
              </a:spcBef>
              <a:spcAft>
                <a:spcPts val="0"/>
              </a:spcAft>
              <a:buNone/>
            </a:pPr>
            <a:r>
              <a:t/>
            </a:r>
            <a:endParaRPr b="1" sz="3600">
              <a:solidFill>
                <a:srgbClr val="FF6D42"/>
              </a:solidFill>
              <a:latin typeface="DM Sans"/>
              <a:ea typeface="DM Sans"/>
              <a:cs typeface="DM Sans"/>
              <a:sym typeface="DM Sans"/>
            </a:endParaRPr>
          </a:p>
          <a:p>
            <a:pPr indent="-457200" lvl="0" marL="457200" rtl="0" algn="l">
              <a:lnSpc>
                <a:spcPct val="80000"/>
              </a:lnSpc>
              <a:spcBef>
                <a:spcPts val="0"/>
              </a:spcBef>
              <a:spcAft>
                <a:spcPts val="0"/>
              </a:spcAft>
              <a:buClr>
                <a:srgbClr val="FF6D42"/>
              </a:buClr>
              <a:buSzPts val="3600"/>
              <a:buFont typeface="DM Sans"/>
              <a:buAutoNum type="arabicPeriod"/>
            </a:pPr>
            <a:r>
              <a:rPr b="1" lang="en-US" sz="3600">
                <a:solidFill>
                  <a:srgbClr val="FF6D42"/>
                </a:solidFill>
                <a:latin typeface="DM Sans"/>
                <a:ea typeface="DM Sans"/>
                <a:cs typeface="DM Sans"/>
                <a:sym typeface="DM Sans"/>
              </a:rPr>
              <a:t>Customer Lifetime Value (CLV)</a:t>
            </a:r>
            <a:endParaRPr b="1" sz="2100">
              <a:solidFill>
                <a:srgbClr val="FF6D42"/>
              </a:solidFill>
              <a:latin typeface="DM Sans"/>
              <a:ea typeface="DM Sans"/>
              <a:cs typeface="DM Sans"/>
              <a:sym typeface="DM Sans"/>
            </a:endParaRPr>
          </a:p>
          <a:p>
            <a:pPr indent="0" lvl="0" marL="0" marR="0" rtl="0" algn="l">
              <a:lnSpc>
                <a:spcPct val="80000"/>
              </a:lnSpc>
              <a:spcBef>
                <a:spcPts val="0"/>
              </a:spcBef>
              <a:spcAft>
                <a:spcPts val="0"/>
              </a:spcAft>
              <a:buNone/>
            </a:pPr>
            <a:r>
              <a:t/>
            </a:r>
            <a:endParaRPr b="1" sz="3600">
              <a:solidFill>
                <a:srgbClr val="FF6D42"/>
              </a:solidFill>
              <a:latin typeface="DM Sans"/>
              <a:ea typeface="DM Sans"/>
              <a:cs typeface="DM Sans"/>
              <a:sym typeface="DM Sans"/>
            </a:endParaRPr>
          </a:p>
          <a:p>
            <a:pPr indent="-457200" lvl="0" marL="457200" rtl="0" algn="l">
              <a:lnSpc>
                <a:spcPct val="80000"/>
              </a:lnSpc>
              <a:spcBef>
                <a:spcPts val="0"/>
              </a:spcBef>
              <a:spcAft>
                <a:spcPts val="0"/>
              </a:spcAft>
              <a:buClr>
                <a:srgbClr val="FF6D42"/>
              </a:buClr>
              <a:buSzPts val="3600"/>
              <a:buFont typeface="DM Sans"/>
              <a:buAutoNum type="arabicPeriod"/>
            </a:pPr>
            <a:r>
              <a:rPr b="1" lang="en-US" sz="3600">
                <a:solidFill>
                  <a:srgbClr val="FF6D42"/>
                </a:solidFill>
                <a:latin typeface="DM Sans"/>
                <a:ea typeface="DM Sans"/>
                <a:cs typeface="DM Sans"/>
                <a:sym typeface="DM Sans"/>
              </a:rPr>
              <a:t>Cart Abandonment Rate</a:t>
            </a:r>
            <a:endParaRPr b="1" sz="2100">
              <a:solidFill>
                <a:srgbClr val="FF6D42"/>
              </a:solidFill>
              <a:latin typeface="DM Sans"/>
              <a:ea typeface="DM Sans"/>
              <a:cs typeface="DM Sans"/>
              <a:sym typeface="DM Sans"/>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7"/>
          <p:cNvSpPr txBox="1"/>
          <p:nvPr/>
        </p:nvSpPr>
        <p:spPr>
          <a:xfrm>
            <a:off x="842775" y="801250"/>
            <a:ext cx="164922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rgbClr val="FF6D42"/>
                </a:solidFill>
                <a:latin typeface="DM Sans"/>
                <a:ea typeface="DM Sans"/>
                <a:cs typeface="DM Sans"/>
                <a:sym typeface="DM Sans"/>
              </a:rPr>
              <a:t>Customer Segments</a:t>
            </a:r>
            <a:endParaRPr>
              <a:solidFill>
                <a:srgbClr val="FF6D42"/>
              </a:solidFill>
            </a:endParaRPr>
          </a:p>
        </p:txBody>
      </p:sp>
      <p:pic>
        <p:nvPicPr>
          <p:cNvPr id="198" name="Google Shape;198;p17"/>
          <p:cNvPicPr preferRelativeResize="0"/>
          <p:nvPr/>
        </p:nvPicPr>
        <p:blipFill>
          <a:blip r:embed="rId3">
            <a:alphaModFix/>
          </a:blip>
          <a:stretch>
            <a:fillRect/>
          </a:stretch>
        </p:blipFill>
        <p:spPr>
          <a:xfrm>
            <a:off x="9323125" y="2973175"/>
            <a:ext cx="8109916" cy="5029124"/>
          </a:xfrm>
          <a:prstGeom prst="rect">
            <a:avLst/>
          </a:prstGeom>
          <a:noFill/>
          <a:ln cap="flat" cmpd="sng" w="38100">
            <a:solidFill>
              <a:srgbClr val="FF6D42"/>
            </a:solidFill>
            <a:prstDash val="solid"/>
            <a:round/>
            <a:headEnd len="sm" w="sm" type="none"/>
            <a:tailEnd len="sm" w="sm" type="none"/>
          </a:ln>
        </p:spPr>
      </p:pic>
      <p:pic>
        <p:nvPicPr>
          <p:cNvPr id="199" name="Google Shape;199;p17"/>
          <p:cNvPicPr preferRelativeResize="0"/>
          <p:nvPr/>
        </p:nvPicPr>
        <p:blipFill>
          <a:blip r:embed="rId4">
            <a:alphaModFix/>
          </a:blip>
          <a:stretch>
            <a:fillRect/>
          </a:stretch>
        </p:blipFill>
        <p:spPr>
          <a:xfrm>
            <a:off x="842775" y="2982525"/>
            <a:ext cx="8142075" cy="5029125"/>
          </a:xfrm>
          <a:prstGeom prst="rect">
            <a:avLst/>
          </a:prstGeom>
          <a:noFill/>
          <a:ln cap="flat" cmpd="sng" w="38100">
            <a:solidFill>
              <a:srgbClr val="FF6D42"/>
            </a:solidFill>
            <a:prstDash val="solid"/>
            <a:round/>
            <a:headEnd len="sm" w="sm" type="none"/>
            <a:tailEnd len="sm" w="sm" type="none"/>
          </a:ln>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8"/>
          <p:cNvSpPr txBox="1"/>
          <p:nvPr/>
        </p:nvSpPr>
        <p:spPr>
          <a:xfrm>
            <a:off x="842775" y="801250"/>
            <a:ext cx="164922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rgbClr val="FF6D42"/>
                </a:solidFill>
                <a:latin typeface="DM Sans"/>
                <a:ea typeface="DM Sans"/>
                <a:cs typeface="DM Sans"/>
                <a:sym typeface="DM Sans"/>
              </a:rPr>
              <a:t>Customer Segments</a:t>
            </a:r>
            <a:endParaRPr>
              <a:solidFill>
                <a:srgbClr val="FF6D42"/>
              </a:solidFill>
            </a:endParaRPr>
          </a:p>
        </p:txBody>
      </p:sp>
      <p:pic>
        <p:nvPicPr>
          <p:cNvPr id="205" name="Google Shape;205;p18"/>
          <p:cNvPicPr preferRelativeResize="0"/>
          <p:nvPr/>
        </p:nvPicPr>
        <p:blipFill>
          <a:blip r:embed="rId3">
            <a:alphaModFix/>
          </a:blip>
          <a:stretch>
            <a:fillRect/>
          </a:stretch>
        </p:blipFill>
        <p:spPr>
          <a:xfrm>
            <a:off x="842775" y="2007475"/>
            <a:ext cx="13070423" cy="7747824"/>
          </a:xfrm>
          <a:prstGeom prst="rect">
            <a:avLst/>
          </a:prstGeom>
          <a:noFill/>
          <a:ln cap="flat" cmpd="sng" w="38100">
            <a:solidFill>
              <a:srgbClr val="FF6D42"/>
            </a:solidFill>
            <a:prstDash val="solid"/>
            <a:round/>
            <a:headEnd len="sm" w="sm" type="none"/>
            <a:tailEnd len="sm" w="sm" type="none"/>
          </a:ln>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9"/>
          <p:cNvSpPr txBox="1"/>
          <p:nvPr/>
        </p:nvSpPr>
        <p:spPr>
          <a:xfrm>
            <a:off x="842775" y="801250"/>
            <a:ext cx="164922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rgbClr val="FF6D42"/>
                </a:solidFill>
                <a:latin typeface="DM Sans"/>
                <a:ea typeface="DM Sans"/>
                <a:cs typeface="DM Sans"/>
                <a:sym typeface="DM Sans"/>
              </a:rPr>
              <a:t>Customer Segments</a:t>
            </a:r>
            <a:endParaRPr>
              <a:solidFill>
                <a:srgbClr val="FF6D42"/>
              </a:solidFill>
            </a:endParaRPr>
          </a:p>
        </p:txBody>
      </p:sp>
      <p:pic>
        <p:nvPicPr>
          <p:cNvPr id="211" name="Google Shape;211;p19"/>
          <p:cNvPicPr preferRelativeResize="0"/>
          <p:nvPr/>
        </p:nvPicPr>
        <p:blipFill>
          <a:blip r:embed="rId3">
            <a:alphaModFix/>
          </a:blip>
          <a:stretch>
            <a:fillRect/>
          </a:stretch>
        </p:blipFill>
        <p:spPr>
          <a:xfrm>
            <a:off x="842775" y="2041700"/>
            <a:ext cx="13774024" cy="7794976"/>
          </a:xfrm>
          <a:prstGeom prst="rect">
            <a:avLst/>
          </a:prstGeom>
          <a:noFill/>
          <a:ln cap="flat" cmpd="sng" w="38100">
            <a:solidFill>
              <a:srgbClr val="FF6D42"/>
            </a:solidFill>
            <a:prstDash val="solid"/>
            <a:round/>
            <a:headEnd len="sm" w="sm" type="none"/>
            <a:tailEnd len="sm" w="sm" type="none"/>
          </a:ln>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0"/>
          <p:cNvSpPr txBox="1"/>
          <p:nvPr/>
        </p:nvSpPr>
        <p:spPr>
          <a:xfrm>
            <a:off x="842775" y="801250"/>
            <a:ext cx="164922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rgbClr val="FF6D42"/>
                </a:solidFill>
                <a:latin typeface="DM Sans"/>
                <a:ea typeface="DM Sans"/>
                <a:cs typeface="DM Sans"/>
                <a:sym typeface="DM Sans"/>
              </a:rPr>
              <a:t>Products &amp; Services</a:t>
            </a:r>
            <a:endParaRPr>
              <a:solidFill>
                <a:srgbClr val="FF6D42"/>
              </a:solidFill>
            </a:endParaRPr>
          </a:p>
        </p:txBody>
      </p:sp>
      <p:pic>
        <p:nvPicPr>
          <p:cNvPr id="217" name="Google Shape;217;p20"/>
          <p:cNvPicPr preferRelativeResize="0"/>
          <p:nvPr/>
        </p:nvPicPr>
        <p:blipFill>
          <a:blip r:embed="rId3">
            <a:alphaModFix/>
          </a:blip>
          <a:stretch>
            <a:fillRect/>
          </a:stretch>
        </p:blipFill>
        <p:spPr>
          <a:xfrm>
            <a:off x="842775" y="2055575"/>
            <a:ext cx="13164948" cy="7797376"/>
          </a:xfrm>
          <a:prstGeom prst="rect">
            <a:avLst/>
          </a:prstGeom>
          <a:noFill/>
          <a:ln cap="flat" cmpd="sng" w="38100">
            <a:solidFill>
              <a:srgbClr val="FF6D42"/>
            </a:solidFill>
            <a:prstDash val="solid"/>
            <a:round/>
            <a:headEnd len="sm" w="sm" type="none"/>
            <a:tailEnd len="sm" w="sm" type="none"/>
          </a:ln>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1"/>
          <p:cNvPicPr preferRelativeResize="0"/>
          <p:nvPr/>
        </p:nvPicPr>
        <p:blipFill>
          <a:blip r:embed="rId3">
            <a:alphaModFix/>
          </a:blip>
          <a:stretch>
            <a:fillRect/>
          </a:stretch>
        </p:blipFill>
        <p:spPr>
          <a:xfrm>
            <a:off x="842779" y="2055575"/>
            <a:ext cx="13164948" cy="7784523"/>
          </a:xfrm>
          <a:prstGeom prst="rect">
            <a:avLst/>
          </a:prstGeom>
          <a:noFill/>
          <a:ln cap="flat" cmpd="sng" w="38100">
            <a:solidFill>
              <a:srgbClr val="FF6D42"/>
            </a:solidFill>
            <a:prstDash val="solid"/>
            <a:round/>
            <a:headEnd len="sm" w="sm" type="none"/>
            <a:tailEnd len="sm" w="sm" type="none"/>
          </a:ln>
        </p:spPr>
      </p:pic>
      <p:sp>
        <p:nvSpPr>
          <p:cNvPr id="223" name="Google Shape;223;p21"/>
          <p:cNvSpPr txBox="1"/>
          <p:nvPr/>
        </p:nvSpPr>
        <p:spPr>
          <a:xfrm>
            <a:off x="842775" y="801250"/>
            <a:ext cx="164922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rgbClr val="FF6D42"/>
                </a:solidFill>
                <a:latin typeface="DM Sans"/>
                <a:ea typeface="DM Sans"/>
                <a:cs typeface="DM Sans"/>
                <a:sym typeface="DM Sans"/>
              </a:rPr>
              <a:t>Products &amp; Services</a:t>
            </a:r>
            <a:endParaRPr>
              <a:solidFill>
                <a:srgbClr val="FF6D42"/>
              </a:solidFil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22"/>
          <p:cNvPicPr preferRelativeResize="0"/>
          <p:nvPr/>
        </p:nvPicPr>
        <p:blipFill>
          <a:blip r:embed="rId3">
            <a:alphaModFix/>
          </a:blip>
          <a:stretch>
            <a:fillRect/>
          </a:stretch>
        </p:blipFill>
        <p:spPr>
          <a:xfrm>
            <a:off x="842775" y="2055575"/>
            <a:ext cx="13155348" cy="7688924"/>
          </a:xfrm>
          <a:prstGeom prst="rect">
            <a:avLst/>
          </a:prstGeom>
          <a:noFill/>
          <a:ln cap="flat" cmpd="sng" w="38100">
            <a:solidFill>
              <a:srgbClr val="FF6D42"/>
            </a:solidFill>
            <a:prstDash val="solid"/>
            <a:round/>
            <a:headEnd len="sm" w="sm" type="none"/>
            <a:tailEnd len="sm" w="sm" type="none"/>
          </a:ln>
        </p:spPr>
      </p:pic>
      <p:sp>
        <p:nvSpPr>
          <p:cNvPr id="229" name="Google Shape;229;p22"/>
          <p:cNvSpPr txBox="1"/>
          <p:nvPr/>
        </p:nvSpPr>
        <p:spPr>
          <a:xfrm>
            <a:off x="842775" y="801250"/>
            <a:ext cx="164922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rgbClr val="FF6D42"/>
                </a:solidFill>
                <a:latin typeface="DM Sans"/>
                <a:ea typeface="DM Sans"/>
                <a:cs typeface="DM Sans"/>
                <a:sym typeface="DM Sans"/>
              </a:rPr>
              <a:t>Products &amp; Services</a:t>
            </a:r>
            <a:endParaRPr>
              <a:solidFill>
                <a:srgbClr val="FF6D42"/>
              </a:solidFil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3"/>
          <p:cNvSpPr txBox="1"/>
          <p:nvPr/>
        </p:nvSpPr>
        <p:spPr>
          <a:xfrm>
            <a:off x="842775" y="801250"/>
            <a:ext cx="16492200" cy="10590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599">
                <a:solidFill>
                  <a:srgbClr val="FF6D42"/>
                </a:solidFill>
                <a:latin typeface="DM Sans"/>
                <a:ea typeface="DM Sans"/>
                <a:cs typeface="DM Sans"/>
                <a:sym typeface="DM Sans"/>
              </a:rPr>
              <a:t>Customer Lifetime Value (CLV)</a:t>
            </a:r>
            <a:endParaRPr sz="1200">
              <a:solidFill>
                <a:srgbClr val="FF6D42"/>
              </a:solidFill>
            </a:endParaRPr>
          </a:p>
        </p:txBody>
      </p:sp>
      <p:pic>
        <p:nvPicPr>
          <p:cNvPr id="235" name="Google Shape;235;p23"/>
          <p:cNvPicPr preferRelativeResize="0"/>
          <p:nvPr/>
        </p:nvPicPr>
        <p:blipFill rotWithShape="1">
          <a:blip r:embed="rId3">
            <a:alphaModFix/>
          </a:blip>
          <a:srcRect b="0" l="0" r="0" t="38744"/>
          <a:stretch/>
        </p:blipFill>
        <p:spPr>
          <a:xfrm>
            <a:off x="12325350" y="2277703"/>
            <a:ext cx="5009625" cy="3271376"/>
          </a:xfrm>
          <a:prstGeom prst="rect">
            <a:avLst/>
          </a:prstGeom>
          <a:noFill/>
          <a:ln cap="flat" cmpd="sng" w="76200">
            <a:solidFill>
              <a:schemeClr val="dk2"/>
            </a:solidFill>
            <a:prstDash val="solid"/>
            <a:round/>
            <a:headEnd len="sm" w="sm" type="none"/>
            <a:tailEnd len="sm" w="sm" type="none"/>
          </a:ln>
        </p:spPr>
      </p:pic>
      <p:pic>
        <p:nvPicPr>
          <p:cNvPr id="236" name="Google Shape;236;p23"/>
          <p:cNvPicPr preferRelativeResize="0"/>
          <p:nvPr/>
        </p:nvPicPr>
        <p:blipFill>
          <a:blip r:embed="rId4">
            <a:alphaModFix/>
          </a:blip>
          <a:stretch>
            <a:fillRect/>
          </a:stretch>
        </p:blipFill>
        <p:spPr>
          <a:xfrm>
            <a:off x="12325351" y="5776811"/>
            <a:ext cx="5009625" cy="3984956"/>
          </a:xfrm>
          <a:prstGeom prst="rect">
            <a:avLst/>
          </a:prstGeom>
          <a:noFill/>
          <a:ln cap="flat" cmpd="sng" w="76200">
            <a:solidFill>
              <a:schemeClr val="dk2"/>
            </a:solidFill>
            <a:prstDash val="solid"/>
            <a:round/>
            <a:headEnd len="sm" w="sm" type="none"/>
            <a:tailEnd len="sm" w="sm" type="none"/>
          </a:ln>
        </p:spPr>
      </p:pic>
      <p:pic>
        <p:nvPicPr>
          <p:cNvPr id="237" name="Google Shape;237;p23"/>
          <p:cNvPicPr preferRelativeResize="0"/>
          <p:nvPr/>
        </p:nvPicPr>
        <p:blipFill>
          <a:blip r:embed="rId5">
            <a:alphaModFix/>
          </a:blip>
          <a:stretch>
            <a:fillRect/>
          </a:stretch>
        </p:blipFill>
        <p:spPr>
          <a:xfrm>
            <a:off x="842763" y="2964449"/>
            <a:ext cx="10057549" cy="6212550"/>
          </a:xfrm>
          <a:prstGeom prst="rect">
            <a:avLst/>
          </a:prstGeom>
          <a:noFill/>
          <a:ln cap="flat" cmpd="sng" w="76200">
            <a:solidFill>
              <a:schemeClr val="dk2"/>
            </a:solidFill>
            <a:prstDash val="solid"/>
            <a:round/>
            <a:headEnd len="sm" w="sm" type="none"/>
            <a:tailEnd len="sm" w="sm" type="none"/>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4"/>
          <p:cNvSpPr txBox="1"/>
          <p:nvPr/>
        </p:nvSpPr>
        <p:spPr>
          <a:xfrm>
            <a:off x="842775" y="801250"/>
            <a:ext cx="164922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rgbClr val="FF6D42"/>
                </a:solidFill>
                <a:latin typeface="DM Sans"/>
                <a:ea typeface="DM Sans"/>
                <a:cs typeface="DM Sans"/>
                <a:sym typeface="DM Sans"/>
              </a:rPr>
              <a:t>Cart Abandonment Rate</a:t>
            </a:r>
            <a:endParaRPr>
              <a:solidFill>
                <a:srgbClr val="FF6D42"/>
              </a:solidFill>
            </a:endParaRPr>
          </a:p>
        </p:txBody>
      </p:sp>
      <p:pic>
        <p:nvPicPr>
          <p:cNvPr id="243" name="Google Shape;243;p24"/>
          <p:cNvPicPr preferRelativeResize="0"/>
          <p:nvPr/>
        </p:nvPicPr>
        <p:blipFill>
          <a:blip r:embed="rId3">
            <a:alphaModFix/>
          </a:blip>
          <a:stretch>
            <a:fillRect/>
          </a:stretch>
        </p:blipFill>
        <p:spPr>
          <a:xfrm>
            <a:off x="9382750" y="3248950"/>
            <a:ext cx="7918900" cy="4891492"/>
          </a:xfrm>
          <a:prstGeom prst="rect">
            <a:avLst/>
          </a:prstGeom>
          <a:noFill/>
          <a:ln cap="flat" cmpd="sng" w="76200">
            <a:solidFill>
              <a:srgbClr val="FF6D42"/>
            </a:solidFill>
            <a:prstDash val="solid"/>
            <a:round/>
            <a:headEnd len="sm" w="sm" type="none"/>
            <a:tailEnd len="sm" w="sm" type="none"/>
          </a:ln>
        </p:spPr>
      </p:pic>
      <p:pic>
        <p:nvPicPr>
          <p:cNvPr id="244" name="Google Shape;244;p24"/>
          <p:cNvPicPr preferRelativeResize="0"/>
          <p:nvPr/>
        </p:nvPicPr>
        <p:blipFill>
          <a:blip r:embed="rId4">
            <a:alphaModFix/>
          </a:blip>
          <a:stretch>
            <a:fillRect/>
          </a:stretch>
        </p:blipFill>
        <p:spPr>
          <a:xfrm>
            <a:off x="979000" y="3248950"/>
            <a:ext cx="7665050" cy="4891500"/>
          </a:xfrm>
          <a:prstGeom prst="rect">
            <a:avLst/>
          </a:prstGeom>
          <a:noFill/>
          <a:ln cap="flat" cmpd="sng" w="76200">
            <a:solidFill>
              <a:srgbClr val="FF6D42"/>
            </a:solidFill>
            <a:prstDash val="solid"/>
            <a:round/>
            <a:headEnd len="sm" w="sm" type="none"/>
            <a:tailEnd len="sm" w="sm" type="none"/>
          </a:ln>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6" scaled="0"/>
        </a:gradFill>
      </p:bgPr>
    </p:bg>
    <p:spTree>
      <p:nvGrpSpPr>
        <p:cNvPr id="248" name="Shape 248"/>
        <p:cNvGrpSpPr/>
        <p:nvPr/>
      </p:nvGrpSpPr>
      <p:grpSpPr>
        <a:xfrm>
          <a:off x="0" y="0"/>
          <a:ext cx="0" cy="0"/>
          <a:chOff x="0" y="0"/>
          <a:chExt cx="0" cy="0"/>
        </a:xfrm>
      </p:grpSpPr>
      <p:pic>
        <p:nvPicPr>
          <p:cNvPr id="249" name="Google Shape;249;p25"/>
          <p:cNvPicPr preferRelativeResize="0"/>
          <p:nvPr/>
        </p:nvPicPr>
        <p:blipFill>
          <a:blip r:embed="rId3">
            <a:alphaModFix/>
          </a:blip>
          <a:stretch>
            <a:fillRect/>
          </a:stretch>
        </p:blipFill>
        <p:spPr>
          <a:xfrm>
            <a:off x="1028700" y="5142629"/>
            <a:ext cx="16230600" cy="12838658"/>
          </a:xfrm>
          <a:prstGeom prst="rect">
            <a:avLst/>
          </a:prstGeom>
          <a:noFill/>
          <a:ln>
            <a:noFill/>
          </a:ln>
        </p:spPr>
      </p:pic>
      <p:sp>
        <p:nvSpPr>
          <p:cNvPr id="250" name="Google Shape;250;p25"/>
          <p:cNvSpPr txBox="1"/>
          <p:nvPr/>
        </p:nvSpPr>
        <p:spPr>
          <a:xfrm>
            <a:off x="1028700" y="1580707"/>
            <a:ext cx="16230600" cy="320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10400">
                <a:solidFill>
                  <a:srgbClr val="FFFFFF"/>
                </a:solidFill>
                <a:latin typeface="DM Sans"/>
                <a:ea typeface="DM Sans"/>
                <a:cs typeface="DM Sans"/>
                <a:sym typeface="DM Sans"/>
              </a:rPr>
              <a:t>Predictive </a:t>
            </a:r>
            <a:endParaRPr b="1" sz="10400">
              <a:solidFill>
                <a:srgbClr val="FFFFFF"/>
              </a:solidFill>
              <a:latin typeface="DM Sans"/>
              <a:ea typeface="DM Sans"/>
              <a:cs typeface="DM Sans"/>
              <a:sym typeface="DM Sans"/>
            </a:endParaRPr>
          </a:p>
          <a:p>
            <a:pPr indent="0" lvl="0" marL="0" marR="0" rtl="0" algn="ctr">
              <a:lnSpc>
                <a:spcPct val="100000"/>
              </a:lnSpc>
              <a:spcBef>
                <a:spcPts val="0"/>
              </a:spcBef>
              <a:spcAft>
                <a:spcPts val="0"/>
              </a:spcAft>
              <a:buNone/>
            </a:pPr>
            <a:r>
              <a:rPr b="1" lang="en-US" sz="10400">
                <a:solidFill>
                  <a:srgbClr val="FFFFFF"/>
                </a:solidFill>
                <a:latin typeface="DM Sans"/>
                <a:ea typeface="DM Sans"/>
                <a:cs typeface="DM Sans"/>
                <a:sym typeface="DM Sans"/>
              </a:rPr>
              <a:t>Modeling</a:t>
            </a:r>
            <a:endParaRPr sz="1040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6" scaled="0"/>
        </a:gradFill>
      </p:bgPr>
    </p:bg>
    <p:spTree>
      <p:nvGrpSpPr>
        <p:cNvPr id="254" name="Shape 254"/>
        <p:cNvGrpSpPr/>
        <p:nvPr/>
      </p:nvGrpSpPr>
      <p:grpSpPr>
        <a:xfrm>
          <a:off x="0" y="0"/>
          <a:ext cx="0" cy="0"/>
          <a:chOff x="0" y="0"/>
          <a:chExt cx="0" cy="0"/>
        </a:xfrm>
      </p:grpSpPr>
      <p:sp>
        <p:nvSpPr>
          <p:cNvPr id="255" name="Google Shape;255;p26"/>
          <p:cNvSpPr txBox="1"/>
          <p:nvPr/>
        </p:nvSpPr>
        <p:spPr>
          <a:xfrm>
            <a:off x="842775" y="801250"/>
            <a:ext cx="16492200" cy="21669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chemeClr val="lt1"/>
                </a:solidFill>
                <a:latin typeface="DM Sans"/>
                <a:ea typeface="DM Sans"/>
                <a:cs typeface="DM Sans"/>
                <a:sym typeface="DM Sans"/>
              </a:rPr>
              <a:t>Predictive Modeling</a:t>
            </a:r>
            <a:endParaRPr b="1" sz="8799">
              <a:solidFill>
                <a:schemeClr val="lt1"/>
              </a:solidFill>
              <a:latin typeface="DM Sans"/>
              <a:ea typeface="DM Sans"/>
              <a:cs typeface="DM Sans"/>
              <a:sym typeface="DM Sans"/>
            </a:endParaRPr>
          </a:p>
          <a:p>
            <a:pPr indent="0" lvl="0" marL="0" marR="0" rtl="0" algn="l">
              <a:lnSpc>
                <a:spcPct val="80000"/>
              </a:lnSpc>
              <a:spcBef>
                <a:spcPts val="0"/>
              </a:spcBef>
              <a:spcAft>
                <a:spcPts val="0"/>
              </a:spcAft>
              <a:buNone/>
            </a:pPr>
            <a:r>
              <a:rPr b="1" lang="en-US" sz="8799">
                <a:solidFill>
                  <a:schemeClr val="lt1"/>
                </a:solidFill>
                <a:latin typeface="DM Sans"/>
                <a:ea typeface="DM Sans"/>
                <a:cs typeface="DM Sans"/>
                <a:sym typeface="DM Sans"/>
              </a:rPr>
              <a:t>Decision Tree </a:t>
            </a:r>
            <a:endParaRPr b="1" sz="8799">
              <a:solidFill>
                <a:schemeClr val="lt1"/>
              </a:solidFill>
              <a:latin typeface="DM Sans"/>
              <a:ea typeface="DM Sans"/>
              <a:cs typeface="DM Sans"/>
              <a:sym typeface="DM Sans"/>
            </a:endParaRPr>
          </a:p>
        </p:txBody>
      </p:sp>
      <p:sp>
        <p:nvSpPr>
          <p:cNvPr id="256" name="Google Shape;256;p26"/>
          <p:cNvSpPr txBox="1"/>
          <p:nvPr/>
        </p:nvSpPr>
        <p:spPr>
          <a:xfrm>
            <a:off x="842775" y="3429000"/>
            <a:ext cx="11465400" cy="3940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3600">
                <a:solidFill>
                  <a:schemeClr val="lt1"/>
                </a:solidFill>
                <a:latin typeface="DM Sans"/>
                <a:ea typeface="DM Sans"/>
                <a:cs typeface="DM Sans"/>
                <a:sym typeface="DM Sans"/>
              </a:rPr>
              <a:t>Identify Cart </a:t>
            </a:r>
            <a:r>
              <a:rPr b="1" lang="en-US" sz="3600">
                <a:solidFill>
                  <a:schemeClr val="lt1"/>
                </a:solidFill>
                <a:latin typeface="DM Sans"/>
                <a:ea typeface="DM Sans"/>
                <a:cs typeface="DM Sans"/>
                <a:sym typeface="DM Sans"/>
              </a:rPr>
              <a:t>Abandonment</a:t>
            </a:r>
            <a:r>
              <a:rPr b="1" lang="en-US" sz="3600">
                <a:solidFill>
                  <a:schemeClr val="lt1"/>
                </a:solidFill>
                <a:latin typeface="DM Sans"/>
                <a:ea typeface="DM Sans"/>
                <a:cs typeface="DM Sans"/>
                <a:sym typeface="DM Sans"/>
              </a:rPr>
              <a:t> </a:t>
            </a:r>
            <a:r>
              <a:rPr b="1" lang="en-US" sz="3600">
                <a:solidFill>
                  <a:schemeClr val="lt1"/>
                </a:solidFill>
                <a:latin typeface="DM Sans"/>
                <a:ea typeface="DM Sans"/>
                <a:cs typeface="DM Sans"/>
                <a:sym typeface="DM Sans"/>
              </a:rPr>
              <a:t>Driving</a:t>
            </a:r>
            <a:r>
              <a:rPr b="1" lang="en-US" sz="3600">
                <a:solidFill>
                  <a:schemeClr val="lt1"/>
                </a:solidFill>
                <a:latin typeface="DM Sans"/>
                <a:ea typeface="DM Sans"/>
                <a:cs typeface="DM Sans"/>
                <a:sym typeface="DM Sans"/>
              </a:rPr>
              <a:t> Factors</a:t>
            </a:r>
            <a:endParaRPr b="1" sz="3600">
              <a:solidFill>
                <a:schemeClr val="lt1"/>
              </a:solidFill>
              <a:latin typeface="DM Sans"/>
              <a:ea typeface="DM Sans"/>
              <a:cs typeface="DM Sans"/>
              <a:sym typeface="DM Sans"/>
            </a:endParaRPr>
          </a:p>
          <a:p>
            <a:pPr indent="-393700" lvl="0" marL="457200" rtl="0" algn="l">
              <a:lnSpc>
                <a:spcPct val="115000"/>
              </a:lnSpc>
              <a:spcBef>
                <a:spcPts val="0"/>
              </a:spcBef>
              <a:spcAft>
                <a:spcPts val="0"/>
              </a:spcAft>
              <a:buClr>
                <a:schemeClr val="lt1"/>
              </a:buClr>
              <a:buSzPts val="2600"/>
              <a:buFont typeface="DM Sans"/>
              <a:buChar char="●"/>
            </a:pPr>
            <a:r>
              <a:rPr lang="en-US" sz="2600">
                <a:solidFill>
                  <a:schemeClr val="lt1"/>
                </a:solidFill>
                <a:latin typeface="DM Sans"/>
                <a:ea typeface="DM Sans"/>
                <a:cs typeface="DM Sans"/>
                <a:sym typeface="DM Sans"/>
              </a:rPr>
              <a:t>By training a decision tree, we can determine which customer behaviors (e.g., session duration, satisfaction score, homeowner status) most influence whether a user abandons their cart.</a:t>
            </a:r>
            <a:endParaRPr sz="2600">
              <a:solidFill>
                <a:schemeClr val="lt1"/>
              </a:solidFill>
              <a:latin typeface="DM Sans"/>
              <a:ea typeface="DM Sans"/>
              <a:cs typeface="DM Sans"/>
              <a:sym typeface="DM Sans"/>
            </a:endParaRPr>
          </a:p>
          <a:p>
            <a:pPr indent="0" lvl="0" marL="0" rtl="0" algn="l">
              <a:lnSpc>
                <a:spcPct val="115000"/>
              </a:lnSpc>
              <a:spcBef>
                <a:spcPts val="0"/>
              </a:spcBef>
              <a:spcAft>
                <a:spcPts val="0"/>
              </a:spcAft>
              <a:buNone/>
            </a:pPr>
            <a:r>
              <a:t/>
            </a:r>
            <a:endParaRPr sz="2400">
              <a:solidFill>
                <a:schemeClr val="lt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rPr b="1" lang="en-US" sz="3600">
                <a:solidFill>
                  <a:schemeClr val="lt1"/>
                </a:solidFill>
                <a:latin typeface="DM Sans"/>
                <a:ea typeface="DM Sans"/>
                <a:cs typeface="DM Sans"/>
                <a:sym typeface="DM Sans"/>
              </a:rPr>
              <a:t>Make Data Decision Business Decisions </a:t>
            </a:r>
            <a:endParaRPr b="1" sz="3600">
              <a:solidFill>
                <a:schemeClr val="lt1"/>
              </a:solidFill>
              <a:latin typeface="DM Sans"/>
              <a:ea typeface="DM Sans"/>
              <a:cs typeface="DM Sans"/>
              <a:sym typeface="DM Sans"/>
            </a:endParaRPr>
          </a:p>
          <a:p>
            <a:pPr indent="-393700" lvl="0" marL="457200" rtl="0" algn="l">
              <a:lnSpc>
                <a:spcPct val="115000"/>
              </a:lnSpc>
              <a:spcBef>
                <a:spcPts val="0"/>
              </a:spcBef>
              <a:spcAft>
                <a:spcPts val="0"/>
              </a:spcAft>
              <a:buClr>
                <a:schemeClr val="lt1"/>
              </a:buClr>
              <a:buSzPts val="2600"/>
              <a:buFont typeface="DM Sans"/>
              <a:buChar char="●"/>
            </a:pPr>
            <a:r>
              <a:rPr lang="en-US" sz="2600">
                <a:solidFill>
                  <a:schemeClr val="lt1"/>
                </a:solidFill>
                <a:latin typeface="DM Sans"/>
                <a:ea typeface="DM Sans"/>
                <a:cs typeface="DM Sans"/>
                <a:sym typeface="DM Sans"/>
              </a:rPr>
              <a:t>Users with higher average order values and longer session durations tend to have a lower probability of abandoning their carts.</a:t>
            </a:r>
            <a:endParaRPr sz="2600">
              <a:solidFill>
                <a:schemeClr val="lt1"/>
              </a:solidFill>
              <a:latin typeface="DM Sans"/>
              <a:ea typeface="DM Sans"/>
              <a:cs typeface="DM Sans"/>
              <a:sym typeface="DM Sans"/>
            </a:endParaRPr>
          </a:p>
        </p:txBody>
      </p:sp>
      <p:pic>
        <p:nvPicPr>
          <p:cNvPr id="257" name="Google Shape;257;p26"/>
          <p:cNvPicPr preferRelativeResize="0"/>
          <p:nvPr/>
        </p:nvPicPr>
        <p:blipFill>
          <a:blip r:embed="rId3">
            <a:alphaModFix/>
          </a:blip>
          <a:stretch>
            <a:fillRect/>
          </a:stretch>
        </p:blipFill>
        <p:spPr>
          <a:xfrm>
            <a:off x="12308239" y="-2292820"/>
            <a:ext cx="16103226" cy="16506051"/>
          </a:xfrm>
          <a:prstGeom prst="rect">
            <a:avLst/>
          </a:prstGeom>
          <a:noFill/>
          <a:ln>
            <a:noFill/>
          </a:ln>
        </p:spPr>
      </p:pic>
      <p:cxnSp>
        <p:nvCxnSpPr>
          <p:cNvPr id="258" name="Google Shape;258;p26"/>
          <p:cNvCxnSpPr/>
          <p:nvPr/>
        </p:nvCxnSpPr>
        <p:spPr>
          <a:xfrm>
            <a:off x="10905525" y="7346300"/>
            <a:ext cx="36000" cy="2736900"/>
          </a:xfrm>
          <a:prstGeom prst="straightConnector1">
            <a:avLst/>
          </a:prstGeom>
          <a:noFill/>
          <a:ln cap="flat" cmpd="sng" w="228600">
            <a:solidFill>
              <a:srgbClr val="FF3131"/>
            </a:solidFill>
            <a:prstDash val="solid"/>
            <a:round/>
            <a:headEnd len="med" w="med" type="none"/>
            <a:tailEnd len="med" w="med" type="triangle"/>
          </a:ln>
        </p:spPr>
      </p:cxn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6" scaled="0"/>
        </a:gradFill>
      </p:bgPr>
    </p:bg>
    <p:spTree>
      <p:nvGrpSpPr>
        <p:cNvPr id="262" name="Shape 262"/>
        <p:cNvGrpSpPr/>
        <p:nvPr/>
      </p:nvGrpSpPr>
      <p:grpSpPr>
        <a:xfrm>
          <a:off x="0" y="0"/>
          <a:ext cx="0" cy="0"/>
          <a:chOff x="0" y="0"/>
          <a:chExt cx="0" cy="0"/>
        </a:xfrm>
      </p:grpSpPr>
      <p:pic>
        <p:nvPicPr>
          <p:cNvPr id="263" name="Google Shape;263;p27"/>
          <p:cNvPicPr preferRelativeResize="0"/>
          <p:nvPr/>
        </p:nvPicPr>
        <p:blipFill>
          <a:blip r:embed="rId3">
            <a:alphaModFix/>
          </a:blip>
          <a:stretch>
            <a:fillRect/>
          </a:stretch>
        </p:blipFill>
        <p:spPr>
          <a:xfrm>
            <a:off x="-4860350" y="-8244889"/>
            <a:ext cx="14448101" cy="23804979"/>
          </a:xfrm>
          <a:prstGeom prst="rect">
            <a:avLst/>
          </a:prstGeom>
          <a:noFill/>
          <a:ln cap="flat" cmpd="sng" w="9525">
            <a:solidFill>
              <a:srgbClr val="FFFF00"/>
            </a:solidFill>
            <a:prstDash val="solid"/>
            <a:round/>
            <a:headEnd len="sm" w="sm" type="none"/>
            <a:tailEnd len="sm" w="sm" type="none"/>
          </a:ln>
        </p:spPr>
      </p:pic>
      <p:sp>
        <p:nvSpPr>
          <p:cNvPr id="264" name="Google Shape;264;p27"/>
          <p:cNvSpPr txBox="1"/>
          <p:nvPr/>
        </p:nvSpPr>
        <p:spPr>
          <a:xfrm>
            <a:off x="842775" y="801250"/>
            <a:ext cx="16492200" cy="825000"/>
          </a:xfrm>
          <a:prstGeom prst="rect">
            <a:avLst/>
          </a:prstGeom>
          <a:noFill/>
          <a:ln>
            <a:noFill/>
          </a:ln>
        </p:spPr>
        <p:txBody>
          <a:bodyPr anchorCtr="0" anchor="t" bIns="0" lIns="0" spcFirstLastPara="1" rIns="0" wrap="square" tIns="0">
            <a:spAutoFit/>
          </a:bodyPr>
          <a:lstStyle/>
          <a:p>
            <a:pPr indent="0" lvl="0" marL="0" rtl="0" algn="r">
              <a:lnSpc>
                <a:spcPct val="80000"/>
              </a:lnSpc>
              <a:spcBef>
                <a:spcPts val="0"/>
              </a:spcBef>
              <a:spcAft>
                <a:spcPts val="0"/>
              </a:spcAft>
              <a:buSzPts val="1100"/>
              <a:buNone/>
            </a:pPr>
            <a:r>
              <a:rPr b="1" lang="en-US" sz="6700">
                <a:solidFill>
                  <a:schemeClr val="lt1"/>
                </a:solidFill>
                <a:latin typeface="DM Sans"/>
                <a:ea typeface="DM Sans"/>
                <a:cs typeface="DM Sans"/>
                <a:sym typeface="DM Sans"/>
              </a:rPr>
              <a:t>Prediction</a:t>
            </a:r>
            <a:endParaRPr b="1" sz="6700">
              <a:solidFill>
                <a:schemeClr val="lt1"/>
              </a:solidFill>
              <a:latin typeface="DM Sans"/>
              <a:ea typeface="DM Sans"/>
              <a:cs typeface="DM Sans"/>
              <a:sym typeface="DM Sans"/>
            </a:endParaRPr>
          </a:p>
        </p:txBody>
      </p:sp>
      <p:pic>
        <p:nvPicPr>
          <p:cNvPr id="265" name="Google Shape;265;p27"/>
          <p:cNvPicPr preferRelativeResize="0"/>
          <p:nvPr/>
        </p:nvPicPr>
        <p:blipFill>
          <a:blip r:embed="rId4">
            <a:alphaModFix/>
          </a:blip>
          <a:stretch>
            <a:fillRect/>
          </a:stretch>
        </p:blipFill>
        <p:spPr>
          <a:xfrm>
            <a:off x="0" y="0"/>
            <a:ext cx="18288000" cy="10287000"/>
          </a:xfrm>
          <a:prstGeom prst="rect">
            <a:avLst/>
          </a:prstGeom>
          <a:noFill/>
          <a:ln>
            <a:noFill/>
          </a:ln>
        </p:spPr>
      </p:pic>
      <p:sp>
        <p:nvSpPr>
          <p:cNvPr id="266" name="Google Shape;266;p27"/>
          <p:cNvSpPr/>
          <p:nvPr/>
        </p:nvSpPr>
        <p:spPr>
          <a:xfrm>
            <a:off x="4050975" y="5556375"/>
            <a:ext cx="1189125" cy="485125"/>
          </a:xfrm>
          <a:custGeom>
            <a:rect b="b" l="l" r="r" t="t"/>
            <a:pathLst>
              <a:path extrusionOk="0" h="19405" w="47565">
                <a:moveTo>
                  <a:pt x="0" y="1893"/>
                </a:moveTo>
                <a:lnTo>
                  <a:pt x="47565" y="0"/>
                </a:lnTo>
                <a:lnTo>
                  <a:pt x="47329" y="18458"/>
                </a:lnTo>
                <a:lnTo>
                  <a:pt x="3076" y="19405"/>
                </a:lnTo>
                <a:close/>
              </a:path>
            </a:pathLst>
          </a:custGeom>
          <a:solidFill>
            <a:schemeClr val="lt1"/>
          </a:solidFill>
          <a:ln cap="flat" cmpd="sng" w="9525">
            <a:solidFill>
              <a:schemeClr val="lt1"/>
            </a:solidFill>
            <a:prstDash val="solid"/>
            <a:round/>
            <a:headEnd len="med" w="med" type="none"/>
            <a:tailEnd len="med" w="med" type="none"/>
          </a:ln>
        </p:spPr>
      </p:sp>
      <p:cxnSp>
        <p:nvCxnSpPr>
          <p:cNvPr id="267" name="Google Shape;267;p27"/>
          <p:cNvCxnSpPr/>
          <p:nvPr/>
        </p:nvCxnSpPr>
        <p:spPr>
          <a:xfrm>
            <a:off x="6752225" y="5209050"/>
            <a:ext cx="95400" cy="846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6" scaled="0"/>
        </a:gradFill>
      </p:bgPr>
    </p:bg>
    <p:spTree>
      <p:nvGrpSpPr>
        <p:cNvPr id="271" name="Shape 271"/>
        <p:cNvGrpSpPr/>
        <p:nvPr/>
      </p:nvGrpSpPr>
      <p:grpSpPr>
        <a:xfrm>
          <a:off x="0" y="0"/>
          <a:ext cx="0" cy="0"/>
          <a:chOff x="0" y="0"/>
          <a:chExt cx="0" cy="0"/>
        </a:xfrm>
      </p:grpSpPr>
      <p:sp>
        <p:nvSpPr>
          <p:cNvPr id="272" name="Google Shape;272;p28"/>
          <p:cNvSpPr txBox="1"/>
          <p:nvPr/>
        </p:nvSpPr>
        <p:spPr>
          <a:xfrm>
            <a:off x="842775" y="801250"/>
            <a:ext cx="16492200" cy="21669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chemeClr val="lt1"/>
                </a:solidFill>
                <a:latin typeface="DM Sans"/>
                <a:ea typeface="DM Sans"/>
                <a:cs typeface="DM Sans"/>
                <a:sym typeface="DM Sans"/>
              </a:rPr>
              <a:t>Predictive Modeling</a:t>
            </a:r>
            <a:endParaRPr b="1" sz="8799">
              <a:solidFill>
                <a:schemeClr val="lt1"/>
              </a:solidFill>
              <a:latin typeface="DM Sans"/>
              <a:ea typeface="DM Sans"/>
              <a:cs typeface="DM Sans"/>
              <a:sym typeface="DM Sans"/>
            </a:endParaRPr>
          </a:p>
          <a:p>
            <a:pPr indent="0" lvl="0" marL="0" marR="0" rtl="0" algn="l">
              <a:lnSpc>
                <a:spcPct val="80000"/>
              </a:lnSpc>
              <a:spcBef>
                <a:spcPts val="0"/>
              </a:spcBef>
              <a:spcAft>
                <a:spcPts val="0"/>
              </a:spcAft>
              <a:buNone/>
            </a:pPr>
            <a:r>
              <a:rPr b="1" lang="en-US" sz="8799">
                <a:solidFill>
                  <a:schemeClr val="lt1"/>
                </a:solidFill>
                <a:latin typeface="DM Sans"/>
                <a:ea typeface="DM Sans"/>
                <a:cs typeface="DM Sans"/>
                <a:sym typeface="DM Sans"/>
              </a:rPr>
              <a:t>Summary</a:t>
            </a:r>
            <a:endParaRPr>
              <a:solidFill>
                <a:schemeClr val="lt1"/>
              </a:solidFill>
            </a:endParaRPr>
          </a:p>
        </p:txBody>
      </p:sp>
      <p:sp>
        <p:nvSpPr>
          <p:cNvPr id="273" name="Google Shape;273;p28"/>
          <p:cNvSpPr txBox="1"/>
          <p:nvPr/>
        </p:nvSpPr>
        <p:spPr>
          <a:xfrm>
            <a:off x="995175" y="3293675"/>
            <a:ext cx="11008800" cy="6672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3600">
                <a:solidFill>
                  <a:schemeClr val="lt1"/>
                </a:solidFill>
                <a:latin typeface="DM Sans"/>
                <a:ea typeface="DM Sans"/>
                <a:cs typeface="DM Sans"/>
                <a:sym typeface="DM Sans"/>
              </a:rPr>
              <a:t>Customer Satisfaction</a:t>
            </a:r>
            <a:endParaRPr b="1" sz="3600">
              <a:solidFill>
                <a:schemeClr val="lt1"/>
              </a:solidFill>
              <a:latin typeface="DM Sans"/>
              <a:ea typeface="DM Sans"/>
              <a:cs typeface="DM Sans"/>
              <a:sym typeface="DM Sans"/>
            </a:endParaRPr>
          </a:p>
          <a:p>
            <a:pPr indent="-393700" lvl="0" marL="457200" rtl="0" algn="l">
              <a:lnSpc>
                <a:spcPct val="115000"/>
              </a:lnSpc>
              <a:spcBef>
                <a:spcPts val="0"/>
              </a:spcBef>
              <a:spcAft>
                <a:spcPts val="0"/>
              </a:spcAft>
              <a:buClr>
                <a:schemeClr val="lt1"/>
              </a:buClr>
              <a:buSzPts val="2600"/>
              <a:buChar char="●"/>
            </a:pPr>
            <a:r>
              <a:rPr lang="en-US" sz="2600">
                <a:solidFill>
                  <a:schemeClr val="lt1"/>
                </a:solidFill>
              </a:rPr>
              <a:t>Customers with lower satisfaction scores (&lt; 8.2).</a:t>
            </a:r>
            <a:endParaRPr sz="2600">
              <a:solidFill>
                <a:schemeClr val="lt1"/>
              </a:solidFill>
            </a:endParaRPr>
          </a:p>
          <a:p>
            <a:pPr indent="-393700" lvl="0" marL="457200" rtl="0" algn="l">
              <a:lnSpc>
                <a:spcPct val="115000"/>
              </a:lnSpc>
              <a:spcBef>
                <a:spcPts val="0"/>
              </a:spcBef>
              <a:spcAft>
                <a:spcPts val="0"/>
              </a:spcAft>
              <a:buClr>
                <a:schemeClr val="lt1"/>
              </a:buClr>
              <a:buSzPts val="2600"/>
              <a:buChar char="●"/>
            </a:pPr>
            <a:r>
              <a:rPr lang="en-US" sz="2600">
                <a:solidFill>
                  <a:schemeClr val="lt1"/>
                </a:solidFill>
              </a:rPr>
              <a:t>Shorter session durations (&lt; 15 minutes) are more likely to abandon their carts.</a:t>
            </a:r>
            <a:endParaRPr sz="2600">
              <a:solidFill>
                <a:schemeClr val="lt1"/>
              </a:solidFill>
              <a:latin typeface="DM Sans"/>
              <a:ea typeface="DM Sans"/>
              <a:cs typeface="DM Sans"/>
              <a:sym typeface="DM Sans"/>
            </a:endParaRPr>
          </a:p>
          <a:p>
            <a:pPr indent="0" lvl="0" marL="457200" marR="0" rtl="0" algn="l">
              <a:lnSpc>
                <a:spcPct val="80000"/>
              </a:lnSpc>
              <a:spcBef>
                <a:spcPts val="0"/>
              </a:spcBef>
              <a:spcAft>
                <a:spcPts val="0"/>
              </a:spcAft>
              <a:buNone/>
            </a:pPr>
            <a:r>
              <a:t/>
            </a:r>
            <a:endParaRPr b="1" sz="3600">
              <a:solidFill>
                <a:schemeClr val="lt1"/>
              </a:solidFill>
              <a:latin typeface="DM Sans"/>
              <a:ea typeface="DM Sans"/>
              <a:cs typeface="DM Sans"/>
              <a:sym typeface="DM Sans"/>
            </a:endParaRPr>
          </a:p>
          <a:p>
            <a:pPr indent="0" lvl="0" marL="0" marR="0" rtl="0" algn="l">
              <a:lnSpc>
                <a:spcPct val="80000"/>
              </a:lnSpc>
              <a:spcBef>
                <a:spcPts val="0"/>
              </a:spcBef>
              <a:spcAft>
                <a:spcPts val="0"/>
              </a:spcAft>
              <a:buNone/>
            </a:pPr>
            <a:r>
              <a:rPr b="1" lang="en-US" sz="3600">
                <a:solidFill>
                  <a:schemeClr val="lt1"/>
                </a:solidFill>
                <a:latin typeface="DM Sans"/>
                <a:ea typeface="DM Sans"/>
                <a:cs typeface="DM Sans"/>
                <a:sym typeface="DM Sans"/>
              </a:rPr>
              <a:t>Cart </a:t>
            </a:r>
            <a:r>
              <a:rPr b="1" lang="en-US" sz="3600">
                <a:solidFill>
                  <a:schemeClr val="lt1"/>
                </a:solidFill>
                <a:latin typeface="DM Sans"/>
                <a:ea typeface="DM Sans"/>
                <a:cs typeface="DM Sans"/>
                <a:sym typeface="DM Sans"/>
              </a:rPr>
              <a:t>Abandonment</a:t>
            </a:r>
            <a:r>
              <a:rPr b="1" lang="en-US" sz="3600">
                <a:solidFill>
                  <a:schemeClr val="lt1"/>
                </a:solidFill>
                <a:latin typeface="DM Sans"/>
                <a:ea typeface="DM Sans"/>
                <a:cs typeface="DM Sans"/>
                <a:sym typeface="DM Sans"/>
              </a:rPr>
              <a:t> Rate</a:t>
            </a:r>
            <a:endParaRPr b="1" sz="3600">
              <a:solidFill>
                <a:schemeClr val="lt1"/>
              </a:solidFill>
              <a:latin typeface="DM Sans"/>
              <a:ea typeface="DM Sans"/>
              <a:cs typeface="DM Sans"/>
              <a:sym typeface="DM Sans"/>
            </a:endParaRPr>
          </a:p>
          <a:p>
            <a:pPr indent="-393700" lvl="0" marL="457200" rtl="0" algn="l">
              <a:lnSpc>
                <a:spcPct val="80000"/>
              </a:lnSpc>
              <a:spcBef>
                <a:spcPts val="0"/>
              </a:spcBef>
              <a:spcAft>
                <a:spcPts val="0"/>
              </a:spcAft>
              <a:buClr>
                <a:schemeClr val="lt1"/>
              </a:buClr>
              <a:buSzPts val="2600"/>
              <a:buChar char="●"/>
            </a:pPr>
            <a:r>
              <a:rPr lang="en-US" sz="2600">
                <a:solidFill>
                  <a:schemeClr val="lt1"/>
                </a:solidFill>
              </a:rPr>
              <a:t>High cart abandonment occurs when customers have low satisfaction scores (&lt; 7.6), short browsing times, or low engagement.</a:t>
            </a:r>
            <a:endParaRPr sz="2600">
              <a:solidFill>
                <a:schemeClr val="lt1"/>
              </a:solidFill>
            </a:endParaRPr>
          </a:p>
          <a:p>
            <a:pPr indent="-393700" lvl="0" marL="457200" rtl="0" algn="l">
              <a:lnSpc>
                <a:spcPct val="80000"/>
              </a:lnSpc>
              <a:spcBef>
                <a:spcPts val="0"/>
              </a:spcBef>
              <a:spcAft>
                <a:spcPts val="0"/>
              </a:spcAft>
              <a:buClr>
                <a:schemeClr val="lt1"/>
              </a:buClr>
              <a:buSzPts val="2600"/>
              <a:buChar char="●"/>
            </a:pPr>
            <a:r>
              <a:rPr lang="en-US" sz="2600">
                <a:solidFill>
                  <a:schemeClr val="lt1"/>
                </a:solidFill>
              </a:rPr>
              <a:t>Low cart abandonment is seen among longer active users (&gt; 21 months) and those with higher satisfaction scores.</a:t>
            </a:r>
            <a:endParaRPr sz="2600">
              <a:solidFill>
                <a:schemeClr val="lt1"/>
              </a:solidFill>
            </a:endParaRPr>
          </a:p>
          <a:p>
            <a:pPr indent="0" lvl="0" marL="457200" rtl="0" algn="l">
              <a:lnSpc>
                <a:spcPct val="80000"/>
              </a:lnSpc>
              <a:spcBef>
                <a:spcPts val="0"/>
              </a:spcBef>
              <a:spcAft>
                <a:spcPts val="0"/>
              </a:spcAft>
              <a:buNone/>
            </a:pPr>
            <a:r>
              <a:t/>
            </a:r>
            <a:endParaRPr b="1" sz="3600">
              <a:solidFill>
                <a:schemeClr val="lt1"/>
              </a:solidFill>
              <a:latin typeface="DM Sans"/>
              <a:ea typeface="DM Sans"/>
              <a:cs typeface="DM Sans"/>
              <a:sym typeface="DM Sans"/>
            </a:endParaRPr>
          </a:p>
          <a:p>
            <a:pPr indent="0" lvl="0" marL="0" rtl="0" algn="l">
              <a:lnSpc>
                <a:spcPct val="80000"/>
              </a:lnSpc>
              <a:spcBef>
                <a:spcPts val="0"/>
              </a:spcBef>
              <a:spcAft>
                <a:spcPts val="0"/>
              </a:spcAft>
              <a:buNone/>
            </a:pPr>
            <a:r>
              <a:rPr b="1" lang="en-US" sz="3600">
                <a:solidFill>
                  <a:schemeClr val="lt1"/>
                </a:solidFill>
                <a:latin typeface="DM Sans"/>
                <a:ea typeface="DM Sans"/>
                <a:cs typeface="DM Sans"/>
                <a:sym typeface="DM Sans"/>
              </a:rPr>
              <a:t>Strategies</a:t>
            </a:r>
            <a:endParaRPr b="1" sz="3600">
              <a:solidFill>
                <a:schemeClr val="lt1"/>
              </a:solidFill>
              <a:latin typeface="DM Sans"/>
              <a:ea typeface="DM Sans"/>
              <a:cs typeface="DM Sans"/>
              <a:sym typeface="DM Sans"/>
            </a:endParaRPr>
          </a:p>
          <a:p>
            <a:pPr indent="-393700" lvl="0" marL="457200" rtl="0" algn="l">
              <a:lnSpc>
                <a:spcPct val="80000"/>
              </a:lnSpc>
              <a:spcBef>
                <a:spcPts val="0"/>
              </a:spcBef>
              <a:spcAft>
                <a:spcPts val="0"/>
              </a:spcAft>
              <a:buClr>
                <a:schemeClr val="lt1"/>
              </a:buClr>
              <a:buSzPts val="2600"/>
              <a:buChar char="●"/>
            </a:pPr>
            <a:r>
              <a:rPr lang="en-US" sz="2600">
                <a:solidFill>
                  <a:schemeClr val="lt1"/>
                </a:solidFill>
              </a:rPr>
              <a:t>Retention-focused strategies can target long-term customers with higher satisfaction to reduce abandonment rates.</a:t>
            </a:r>
            <a:endParaRPr sz="2400">
              <a:solidFill>
                <a:schemeClr val="lt1"/>
              </a:solidFill>
            </a:endParaRPr>
          </a:p>
          <a:p>
            <a:pPr indent="0" lvl="0" marL="0" marR="0" rtl="0" algn="l">
              <a:lnSpc>
                <a:spcPct val="80000"/>
              </a:lnSpc>
              <a:spcBef>
                <a:spcPts val="0"/>
              </a:spcBef>
              <a:spcAft>
                <a:spcPts val="0"/>
              </a:spcAft>
              <a:buNone/>
            </a:pPr>
            <a:r>
              <a:t/>
            </a:r>
            <a:endParaRPr b="1" sz="3600">
              <a:solidFill>
                <a:schemeClr val="lt1"/>
              </a:solidFill>
              <a:latin typeface="DM Sans"/>
              <a:ea typeface="DM Sans"/>
              <a:cs typeface="DM Sans"/>
              <a:sym typeface="DM Sans"/>
            </a:endParaRPr>
          </a:p>
          <a:p>
            <a:pPr indent="0" lvl="0" marL="914400" marR="0" rtl="0" algn="l">
              <a:lnSpc>
                <a:spcPct val="80000"/>
              </a:lnSpc>
              <a:spcBef>
                <a:spcPts val="0"/>
              </a:spcBef>
              <a:spcAft>
                <a:spcPts val="0"/>
              </a:spcAft>
              <a:buNone/>
            </a:pPr>
            <a:r>
              <a:t/>
            </a:r>
            <a:endParaRPr b="1" sz="4200">
              <a:solidFill>
                <a:schemeClr val="lt1"/>
              </a:solidFill>
              <a:latin typeface="DM Sans"/>
              <a:ea typeface="DM Sans"/>
              <a:cs typeface="DM Sans"/>
              <a:sym typeface="DM Sans"/>
            </a:endParaRPr>
          </a:p>
        </p:txBody>
      </p:sp>
      <p:pic>
        <p:nvPicPr>
          <p:cNvPr id="274" name="Google Shape;274;p28"/>
          <p:cNvPicPr preferRelativeResize="0"/>
          <p:nvPr/>
        </p:nvPicPr>
        <p:blipFill>
          <a:blip r:embed="rId3">
            <a:alphaModFix/>
          </a:blip>
          <a:stretch>
            <a:fillRect/>
          </a:stretch>
        </p:blipFill>
        <p:spPr>
          <a:xfrm>
            <a:off x="12003889" y="-2292820"/>
            <a:ext cx="16103226" cy="16506051"/>
          </a:xfrm>
          <a:prstGeom prst="rect">
            <a:avLst/>
          </a:prstGeom>
          <a:noFill/>
          <a:ln>
            <a:noFill/>
          </a:ln>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6" scaled="0"/>
        </a:gradFill>
      </p:bgPr>
    </p:bg>
    <p:spTree>
      <p:nvGrpSpPr>
        <p:cNvPr id="278" name="Shape 278"/>
        <p:cNvGrpSpPr/>
        <p:nvPr/>
      </p:nvGrpSpPr>
      <p:grpSpPr>
        <a:xfrm>
          <a:off x="0" y="0"/>
          <a:ext cx="0" cy="0"/>
          <a:chOff x="0" y="0"/>
          <a:chExt cx="0" cy="0"/>
        </a:xfrm>
      </p:grpSpPr>
      <p:graphicFrame>
        <p:nvGraphicFramePr>
          <p:cNvPr id="279" name="Google Shape;279;p29"/>
          <p:cNvGraphicFramePr/>
          <p:nvPr/>
        </p:nvGraphicFramePr>
        <p:xfrm>
          <a:off x="1028700" y="2667281"/>
          <a:ext cx="3000000" cy="3000000"/>
        </p:xfrm>
        <a:graphic>
          <a:graphicData uri="http://schemas.openxmlformats.org/drawingml/2006/table">
            <a:tbl>
              <a:tblPr>
                <a:noFill/>
                <a:tableStyleId>{C4CF1800-5662-4B13-B396-460371D4CE44}</a:tableStyleId>
              </a:tblPr>
              <a:tblGrid>
                <a:gridCol w="5416550"/>
                <a:gridCol w="5416550"/>
                <a:gridCol w="5416550"/>
              </a:tblGrid>
              <a:tr h="3114525">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57150">
                      <a:solidFill>
                        <a:srgbClr val="FF6D42"/>
                      </a:solidFill>
                      <a:prstDash val="solid"/>
                      <a:round/>
                      <a:headEnd len="sm" w="sm" type="none"/>
                      <a:tailEnd len="sm" w="sm" type="none"/>
                    </a:lnL>
                    <a:lnR cap="flat" cmpd="sng" w="57150">
                      <a:solidFill>
                        <a:srgbClr val="FF6D42"/>
                      </a:solidFill>
                      <a:prstDash val="solid"/>
                      <a:round/>
                      <a:headEnd len="sm" w="sm" type="none"/>
                      <a:tailEnd len="sm" w="sm" type="none"/>
                    </a:lnR>
                    <a:lnT cap="flat" cmpd="sng" w="57150">
                      <a:solidFill>
                        <a:srgbClr val="FF6D42"/>
                      </a:solidFill>
                      <a:prstDash val="solid"/>
                      <a:round/>
                      <a:headEnd len="sm" w="sm" type="none"/>
                      <a:tailEnd len="sm" w="sm" type="none"/>
                    </a:lnT>
                    <a:lnB cap="flat" cmpd="sng" w="57150">
                      <a:solidFill>
                        <a:srgbClr val="FF6D42"/>
                      </a:solidFill>
                      <a:prstDash val="solid"/>
                      <a:round/>
                      <a:headEnd len="sm" w="sm" type="none"/>
                      <a:tailEnd len="sm" w="sm" type="none"/>
                    </a:lnB>
                    <a:solidFill>
                      <a:srgbClr val="FFFFFF"/>
                    </a:solidFill>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57150">
                      <a:solidFill>
                        <a:srgbClr val="FF6D42"/>
                      </a:solidFill>
                      <a:prstDash val="solid"/>
                      <a:round/>
                      <a:headEnd len="sm" w="sm" type="none"/>
                      <a:tailEnd len="sm" w="sm" type="none"/>
                    </a:lnL>
                    <a:lnR cap="flat" cmpd="sng" w="57150">
                      <a:solidFill>
                        <a:srgbClr val="FF6D42"/>
                      </a:solidFill>
                      <a:prstDash val="solid"/>
                      <a:round/>
                      <a:headEnd len="sm" w="sm" type="none"/>
                      <a:tailEnd len="sm" w="sm" type="none"/>
                    </a:lnR>
                    <a:lnT cap="flat" cmpd="sng" w="57150">
                      <a:solidFill>
                        <a:srgbClr val="FF6D42"/>
                      </a:solidFill>
                      <a:prstDash val="solid"/>
                      <a:round/>
                      <a:headEnd len="sm" w="sm" type="none"/>
                      <a:tailEnd len="sm" w="sm" type="none"/>
                    </a:lnT>
                    <a:lnB cap="flat" cmpd="sng" w="57150">
                      <a:solidFill>
                        <a:srgbClr val="FF6D42"/>
                      </a:solidFill>
                      <a:prstDash val="solid"/>
                      <a:round/>
                      <a:headEnd len="sm" w="sm" type="none"/>
                      <a:tailEnd len="sm" w="sm" type="none"/>
                    </a:lnB>
                    <a:solidFill>
                      <a:srgbClr val="FFFFFF"/>
                    </a:solidFill>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57150">
                      <a:solidFill>
                        <a:srgbClr val="FF6D42"/>
                      </a:solidFill>
                      <a:prstDash val="solid"/>
                      <a:round/>
                      <a:headEnd len="sm" w="sm" type="none"/>
                      <a:tailEnd len="sm" w="sm" type="none"/>
                    </a:lnL>
                    <a:lnR cap="flat" cmpd="sng" w="57150">
                      <a:solidFill>
                        <a:srgbClr val="FF6D42"/>
                      </a:solidFill>
                      <a:prstDash val="solid"/>
                      <a:round/>
                      <a:headEnd len="sm" w="sm" type="none"/>
                      <a:tailEnd len="sm" w="sm" type="none"/>
                    </a:lnR>
                    <a:lnT cap="flat" cmpd="sng" w="57150">
                      <a:solidFill>
                        <a:srgbClr val="FF6D42"/>
                      </a:solidFill>
                      <a:prstDash val="solid"/>
                      <a:round/>
                      <a:headEnd len="sm" w="sm" type="none"/>
                      <a:tailEnd len="sm" w="sm" type="none"/>
                    </a:lnT>
                    <a:lnB cap="flat" cmpd="sng" w="57150">
                      <a:solidFill>
                        <a:srgbClr val="FF6D42"/>
                      </a:solidFill>
                      <a:prstDash val="solid"/>
                      <a:round/>
                      <a:headEnd len="sm" w="sm" type="none"/>
                      <a:tailEnd len="sm" w="sm" type="none"/>
                    </a:lnB>
                    <a:solidFill>
                      <a:srgbClr val="FFFFFF"/>
                    </a:solidFill>
                  </a:tcPr>
                </a:tc>
              </a:tr>
              <a:tr h="3114525">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57150">
                      <a:solidFill>
                        <a:srgbClr val="FF6D42"/>
                      </a:solidFill>
                      <a:prstDash val="solid"/>
                      <a:round/>
                      <a:headEnd len="sm" w="sm" type="none"/>
                      <a:tailEnd len="sm" w="sm" type="none"/>
                    </a:lnL>
                    <a:lnR cap="flat" cmpd="sng" w="57150">
                      <a:solidFill>
                        <a:srgbClr val="FF6D42"/>
                      </a:solidFill>
                      <a:prstDash val="solid"/>
                      <a:round/>
                      <a:headEnd len="sm" w="sm" type="none"/>
                      <a:tailEnd len="sm" w="sm" type="none"/>
                    </a:lnR>
                    <a:lnT cap="flat" cmpd="sng" w="57150">
                      <a:solidFill>
                        <a:srgbClr val="FF6D42"/>
                      </a:solidFill>
                      <a:prstDash val="solid"/>
                      <a:round/>
                      <a:headEnd len="sm" w="sm" type="none"/>
                      <a:tailEnd len="sm" w="sm" type="none"/>
                    </a:lnT>
                    <a:lnB cap="flat" cmpd="sng" w="57150">
                      <a:solidFill>
                        <a:srgbClr val="FF6D42"/>
                      </a:solidFill>
                      <a:prstDash val="solid"/>
                      <a:round/>
                      <a:headEnd len="sm" w="sm" type="none"/>
                      <a:tailEnd len="sm" w="sm" type="none"/>
                    </a:lnB>
                    <a:solidFill>
                      <a:srgbClr val="FFFFFF"/>
                    </a:solidFill>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57150">
                      <a:solidFill>
                        <a:srgbClr val="FF6D42"/>
                      </a:solidFill>
                      <a:prstDash val="solid"/>
                      <a:round/>
                      <a:headEnd len="sm" w="sm" type="none"/>
                      <a:tailEnd len="sm" w="sm" type="none"/>
                    </a:lnL>
                    <a:lnR cap="flat" cmpd="sng" w="57150">
                      <a:solidFill>
                        <a:srgbClr val="FF6D42"/>
                      </a:solidFill>
                      <a:prstDash val="solid"/>
                      <a:round/>
                      <a:headEnd len="sm" w="sm" type="none"/>
                      <a:tailEnd len="sm" w="sm" type="none"/>
                    </a:lnR>
                    <a:lnT cap="flat" cmpd="sng" w="57150">
                      <a:solidFill>
                        <a:srgbClr val="FF6D42"/>
                      </a:solidFill>
                      <a:prstDash val="solid"/>
                      <a:round/>
                      <a:headEnd len="sm" w="sm" type="none"/>
                      <a:tailEnd len="sm" w="sm" type="none"/>
                    </a:lnT>
                    <a:lnB cap="flat" cmpd="sng" w="57150">
                      <a:solidFill>
                        <a:srgbClr val="FF6D42"/>
                      </a:solidFill>
                      <a:prstDash val="solid"/>
                      <a:round/>
                      <a:headEnd len="sm" w="sm" type="none"/>
                      <a:tailEnd len="sm" w="sm" type="none"/>
                    </a:lnB>
                    <a:solidFill>
                      <a:srgbClr val="FFFFFF"/>
                    </a:solidFill>
                  </a:tcPr>
                </a:tc>
                <a:tc>
                  <a:txBody>
                    <a:bodyPr/>
                    <a:lstStyle/>
                    <a:p>
                      <a:pPr indent="0" lvl="0" marL="0" marR="0" rtl="0" algn="ctr">
                        <a:lnSpc>
                          <a:spcPct val="267272"/>
                        </a:lnSpc>
                        <a:spcBef>
                          <a:spcPts val="0"/>
                        </a:spcBef>
                        <a:spcAft>
                          <a:spcPts val="0"/>
                        </a:spcAft>
                        <a:buNone/>
                      </a:pPr>
                      <a:r>
                        <a:t/>
                      </a:r>
                      <a:endParaRPr sz="1100" u="none" cap="none" strike="noStrike"/>
                    </a:p>
                  </a:txBody>
                  <a:tcPr marT="190500" marB="190500" marR="190500" marL="190500" anchor="ctr">
                    <a:lnL cap="flat" cmpd="sng" w="57150">
                      <a:solidFill>
                        <a:srgbClr val="FF6D42"/>
                      </a:solidFill>
                      <a:prstDash val="solid"/>
                      <a:round/>
                      <a:headEnd len="sm" w="sm" type="none"/>
                      <a:tailEnd len="sm" w="sm" type="none"/>
                    </a:lnL>
                    <a:lnR cap="flat" cmpd="sng" w="57150">
                      <a:solidFill>
                        <a:srgbClr val="FF6D42"/>
                      </a:solidFill>
                      <a:prstDash val="solid"/>
                      <a:round/>
                      <a:headEnd len="sm" w="sm" type="none"/>
                      <a:tailEnd len="sm" w="sm" type="none"/>
                    </a:lnR>
                    <a:lnT cap="flat" cmpd="sng" w="57150">
                      <a:solidFill>
                        <a:srgbClr val="FF6D42"/>
                      </a:solidFill>
                      <a:prstDash val="solid"/>
                      <a:round/>
                      <a:headEnd len="sm" w="sm" type="none"/>
                      <a:tailEnd len="sm" w="sm" type="none"/>
                    </a:lnT>
                    <a:lnB cap="flat" cmpd="sng" w="57150">
                      <a:solidFill>
                        <a:srgbClr val="FF6D42"/>
                      </a:solidFill>
                      <a:prstDash val="solid"/>
                      <a:round/>
                      <a:headEnd len="sm" w="sm" type="none"/>
                      <a:tailEnd len="sm" w="sm" type="none"/>
                    </a:lnB>
                    <a:solidFill>
                      <a:srgbClr val="FFFFFF"/>
                    </a:solidFill>
                  </a:tcPr>
                </a:tc>
              </a:tr>
            </a:tbl>
          </a:graphicData>
        </a:graphic>
      </p:graphicFrame>
      <p:grpSp>
        <p:nvGrpSpPr>
          <p:cNvPr id="280" name="Google Shape;280;p29"/>
          <p:cNvGrpSpPr/>
          <p:nvPr/>
        </p:nvGrpSpPr>
        <p:grpSpPr>
          <a:xfrm>
            <a:off x="12146900" y="3047998"/>
            <a:ext cx="4787775" cy="2404299"/>
            <a:chOff x="0" y="66675"/>
            <a:chExt cx="6383700" cy="1128302"/>
          </a:xfrm>
        </p:grpSpPr>
        <p:sp>
          <p:nvSpPr>
            <p:cNvPr id="281" name="Google Shape;281;p29"/>
            <p:cNvSpPr txBox="1"/>
            <p:nvPr/>
          </p:nvSpPr>
          <p:spPr>
            <a:xfrm>
              <a:off x="0" y="66675"/>
              <a:ext cx="6383700" cy="26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FF6D42"/>
                  </a:solidFill>
                  <a:latin typeface="DM Sans"/>
                  <a:ea typeface="DM Sans"/>
                  <a:cs typeface="DM Sans"/>
                  <a:sym typeface="DM Sans"/>
                </a:rPr>
                <a:t>Finding EDA Trends</a:t>
              </a:r>
              <a:endParaRPr b="1" sz="3600">
                <a:solidFill>
                  <a:srgbClr val="FF6D42"/>
                </a:solidFill>
                <a:latin typeface="DM Sans"/>
                <a:ea typeface="DM Sans"/>
                <a:cs typeface="DM Sans"/>
                <a:sym typeface="DM Sans"/>
              </a:endParaRPr>
            </a:p>
          </p:txBody>
        </p:sp>
        <p:sp>
          <p:nvSpPr>
            <p:cNvPr id="282" name="Google Shape;282;p29"/>
            <p:cNvSpPr txBox="1"/>
            <p:nvPr/>
          </p:nvSpPr>
          <p:spPr>
            <a:xfrm>
              <a:off x="0" y="326777"/>
              <a:ext cx="6383700" cy="868200"/>
            </a:xfrm>
            <a:prstGeom prst="rect">
              <a:avLst/>
            </a:prstGeom>
            <a:noFill/>
            <a:ln>
              <a:noFill/>
            </a:ln>
          </p:spPr>
          <p:txBody>
            <a:bodyPr anchorCtr="0" anchor="t" bIns="0" lIns="0" spcFirstLastPara="1" rIns="0" wrap="square" tIns="0">
              <a:normAutofit/>
            </a:bodyPr>
            <a:lstStyle/>
            <a:p>
              <a:pPr indent="-361950" lvl="0" marL="457200" marR="0" rtl="0" algn="l">
                <a:lnSpc>
                  <a:spcPct val="120000"/>
                </a:lnSpc>
                <a:spcBef>
                  <a:spcPts val="0"/>
                </a:spcBef>
                <a:spcAft>
                  <a:spcPts val="0"/>
                </a:spcAft>
                <a:buClr>
                  <a:srgbClr val="FF6D42"/>
                </a:buClr>
                <a:buSzPts val="2100"/>
                <a:buFont typeface="DM Sans"/>
                <a:buChar char="-"/>
              </a:pPr>
              <a:r>
                <a:rPr lang="en-US" sz="2100">
                  <a:solidFill>
                    <a:srgbClr val="FF6D42"/>
                  </a:solidFill>
                  <a:latin typeface="DM Sans"/>
                  <a:ea typeface="DM Sans"/>
                  <a:cs typeface="DM Sans"/>
                  <a:sym typeface="DM Sans"/>
                </a:rPr>
                <a:t>Many EDA illustrated relationships with very weak associations</a:t>
              </a:r>
              <a:endParaRPr sz="2100">
                <a:solidFill>
                  <a:srgbClr val="FF6D42"/>
                </a:solidFill>
                <a:latin typeface="DM Sans"/>
                <a:ea typeface="DM Sans"/>
                <a:cs typeface="DM Sans"/>
                <a:sym typeface="DM Sans"/>
              </a:endParaRPr>
            </a:p>
            <a:p>
              <a:pPr indent="-361950" lvl="0" marL="457200" marR="0" rtl="0" algn="l">
                <a:lnSpc>
                  <a:spcPct val="120000"/>
                </a:lnSpc>
                <a:spcBef>
                  <a:spcPts val="0"/>
                </a:spcBef>
                <a:spcAft>
                  <a:spcPts val="0"/>
                </a:spcAft>
                <a:buClr>
                  <a:srgbClr val="FF6D42"/>
                </a:buClr>
                <a:buSzPts val="2100"/>
                <a:buFont typeface="DM Sans"/>
                <a:buChar char="-"/>
              </a:pPr>
              <a:r>
                <a:rPr lang="en-US" sz="2100">
                  <a:solidFill>
                    <a:srgbClr val="FF6D42"/>
                  </a:solidFill>
                  <a:latin typeface="DM Sans"/>
                  <a:ea typeface="DM Sans"/>
                  <a:cs typeface="DM Sans"/>
                  <a:sym typeface="DM Sans"/>
                </a:rPr>
                <a:t>Made forming suggestion more difficult</a:t>
              </a:r>
              <a:endParaRPr sz="2100">
                <a:solidFill>
                  <a:srgbClr val="FF6D42"/>
                </a:solidFill>
                <a:latin typeface="DM Sans"/>
                <a:ea typeface="DM Sans"/>
                <a:cs typeface="DM Sans"/>
                <a:sym typeface="DM Sans"/>
              </a:endParaRPr>
            </a:p>
          </p:txBody>
        </p:sp>
      </p:grpSp>
      <p:grpSp>
        <p:nvGrpSpPr>
          <p:cNvPr id="283" name="Google Shape;283;p29"/>
          <p:cNvGrpSpPr/>
          <p:nvPr/>
        </p:nvGrpSpPr>
        <p:grpSpPr>
          <a:xfrm>
            <a:off x="1379300" y="6081018"/>
            <a:ext cx="4764825" cy="1653455"/>
            <a:chOff x="0" y="66675"/>
            <a:chExt cx="6353100" cy="745505"/>
          </a:xfrm>
        </p:grpSpPr>
        <p:sp>
          <p:nvSpPr>
            <p:cNvPr id="284" name="Google Shape;284;p29"/>
            <p:cNvSpPr txBox="1"/>
            <p:nvPr/>
          </p:nvSpPr>
          <p:spPr>
            <a:xfrm>
              <a:off x="0" y="66675"/>
              <a:ext cx="6353100" cy="24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FF6D42"/>
                  </a:solidFill>
                  <a:latin typeface="DM Sans"/>
                  <a:ea typeface="DM Sans"/>
                  <a:cs typeface="DM Sans"/>
                  <a:sym typeface="DM Sans"/>
                </a:rPr>
                <a:t>Homeowner Variable </a:t>
              </a:r>
              <a:endParaRPr b="1" sz="3600">
                <a:solidFill>
                  <a:srgbClr val="FF6D42"/>
                </a:solidFill>
                <a:latin typeface="DM Sans"/>
                <a:ea typeface="DM Sans"/>
                <a:cs typeface="DM Sans"/>
                <a:sym typeface="DM Sans"/>
              </a:endParaRPr>
            </a:p>
          </p:txBody>
        </p:sp>
        <p:sp>
          <p:nvSpPr>
            <p:cNvPr id="285" name="Google Shape;285;p29"/>
            <p:cNvSpPr txBox="1"/>
            <p:nvPr/>
          </p:nvSpPr>
          <p:spPr>
            <a:xfrm>
              <a:off x="0" y="316580"/>
              <a:ext cx="6353100" cy="495600"/>
            </a:xfrm>
            <a:prstGeom prst="rect">
              <a:avLst/>
            </a:prstGeom>
            <a:noFill/>
            <a:ln>
              <a:noFill/>
            </a:ln>
          </p:spPr>
          <p:txBody>
            <a:bodyPr anchorCtr="0" anchor="t" bIns="0" lIns="0" spcFirstLastPara="1" rIns="0" wrap="square" tIns="0">
              <a:spAutoFit/>
            </a:bodyPr>
            <a:lstStyle/>
            <a:p>
              <a:pPr indent="-361950" lvl="0" marL="457200" rtl="0" algn="l">
                <a:lnSpc>
                  <a:spcPct val="120000"/>
                </a:lnSpc>
                <a:spcBef>
                  <a:spcPts val="0"/>
                </a:spcBef>
                <a:spcAft>
                  <a:spcPts val="0"/>
                </a:spcAft>
                <a:buClr>
                  <a:srgbClr val="FF6D42"/>
                </a:buClr>
                <a:buSzPts val="2100"/>
                <a:buFont typeface="DM Sans"/>
                <a:buChar char="-"/>
              </a:pPr>
              <a:r>
                <a:rPr lang="en-US" sz="2100">
                  <a:solidFill>
                    <a:srgbClr val="FF6D42"/>
                  </a:solidFill>
                  <a:latin typeface="DM Sans"/>
                  <a:ea typeface="DM Sans"/>
                  <a:cs typeface="DM Sans"/>
                  <a:sym typeface="DM Sans"/>
                </a:rPr>
                <a:t>Difficulty converting Categorical </a:t>
              </a:r>
              <a:endParaRPr sz="2100">
                <a:solidFill>
                  <a:srgbClr val="FF6D42"/>
                </a:solidFill>
                <a:latin typeface="DM Sans"/>
                <a:ea typeface="DM Sans"/>
                <a:cs typeface="DM Sans"/>
                <a:sym typeface="DM Sans"/>
              </a:endParaRPr>
            </a:p>
            <a:p>
              <a:pPr indent="0" lvl="0" marL="457200" rtl="0" algn="l">
                <a:lnSpc>
                  <a:spcPct val="120000"/>
                </a:lnSpc>
                <a:spcBef>
                  <a:spcPts val="0"/>
                </a:spcBef>
                <a:spcAft>
                  <a:spcPts val="0"/>
                </a:spcAft>
                <a:buNone/>
              </a:pPr>
              <a:r>
                <a:rPr lang="en-US" sz="2100">
                  <a:solidFill>
                    <a:srgbClr val="FF6D42"/>
                  </a:solidFill>
                  <a:latin typeface="DM Sans"/>
                  <a:ea typeface="DM Sans"/>
                  <a:cs typeface="DM Sans"/>
                  <a:sym typeface="DM Sans"/>
                </a:rPr>
                <a:t>Data into a Binary for the Decision Tree </a:t>
              </a:r>
              <a:endParaRPr sz="2100">
                <a:solidFill>
                  <a:srgbClr val="FF6D42"/>
                </a:solidFill>
                <a:latin typeface="DM Sans"/>
                <a:ea typeface="DM Sans"/>
                <a:cs typeface="DM Sans"/>
                <a:sym typeface="DM Sans"/>
              </a:endParaRPr>
            </a:p>
          </p:txBody>
        </p:sp>
      </p:grpSp>
      <p:grpSp>
        <p:nvGrpSpPr>
          <p:cNvPr id="286" name="Google Shape;286;p29"/>
          <p:cNvGrpSpPr/>
          <p:nvPr/>
        </p:nvGrpSpPr>
        <p:grpSpPr>
          <a:xfrm>
            <a:off x="6763050" y="3047999"/>
            <a:ext cx="4764825" cy="2404637"/>
            <a:chOff x="0" y="66675"/>
            <a:chExt cx="6353100" cy="1128619"/>
          </a:xfrm>
        </p:grpSpPr>
        <p:sp>
          <p:nvSpPr>
            <p:cNvPr id="287" name="Google Shape;287;p29"/>
            <p:cNvSpPr txBox="1"/>
            <p:nvPr/>
          </p:nvSpPr>
          <p:spPr>
            <a:xfrm>
              <a:off x="0" y="66675"/>
              <a:ext cx="6353100" cy="260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3600">
                  <a:solidFill>
                    <a:srgbClr val="FF6D42"/>
                  </a:solidFill>
                  <a:latin typeface="DM Sans"/>
                  <a:ea typeface="DM Sans"/>
                  <a:cs typeface="DM Sans"/>
                  <a:sym typeface="DM Sans"/>
                </a:rPr>
                <a:t>Imputing NA Values</a:t>
              </a:r>
              <a:endParaRPr b="1" sz="3600">
                <a:solidFill>
                  <a:srgbClr val="FF6D42"/>
                </a:solidFill>
                <a:latin typeface="DM Sans"/>
                <a:ea typeface="DM Sans"/>
                <a:cs typeface="DM Sans"/>
                <a:sym typeface="DM Sans"/>
              </a:endParaRPr>
            </a:p>
          </p:txBody>
        </p:sp>
        <p:sp>
          <p:nvSpPr>
            <p:cNvPr id="288" name="Google Shape;288;p29"/>
            <p:cNvSpPr txBox="1"/>
            <p:nvPr/>
          </p:nvSpPr>
          <p:spPr>
            <a:xfrm>
              <a:off x="0" y="326794"/>
              <a:ext cx="6353100" cy="868500"/>
            </a:xfrm>
            <a:prstGeom prst="rect">
              <a:avLst/>
            </a:prstGeom>
            <a:noFill/>
            <a:ln>
              <a:noFill/>
            </a:ln>
          </p:spPr>
          <p:txBody>
            <a:bodyPr anchorCtr="0" anchor="t" bIns="0" lIns="0" spcFirstLastPara="1" rIns="0" wrap="square" tIns="0">
              <a:normAutofit/>
            </a:bodyPr>
            <a:lstStyle/>
            <a:p>
              <a:pPr indent="-361950" lvl="0" marL="457200" marR="0" rtl="0" algn="l">
                <a:lnSpc>
                  <a:spcPct val="120000"/>
                </a:lnSpc>
                <a:spcBef>
                  <a:spcPts val="0"/>
                </a:spcBef>
                <a:spcAft>
                  <a:spcPts val="0"/>
                </a:spcAft>
                <a:buClr>
                  <a:srgbClr val="FF6D42"/>
                </a:buClr>
                <a:buSzPts val="2100"/>
                <a:buFont typeface="DM Sans"/>
                <a:buChar char="-"/>
              </a:pPr>
              <a:r>
                <a:rPr lang="en-US" sz="2100">
                  <a:solidFill>
                    <a:srgbClr val="FF6D42"/>
                  </a:solidFill>
                  <a:latin typeface="DM Sans"/>
                  <a:ea typeface="DM Sans"/>
                  <a:cs typeface="DM Sans"/>
                  <a:sym typeface="DM Sans"/>
                </a:rPr>
                <a:t>Creating models to impute missing values</a:t>
              </a:r>
              <a:endParaRPr/>
            </a:p>
          </p:txBody>
        </p:sp>
      </p:grpSp>
      <p:grpSp>
        <p:nvGrpSpPr>
          <p:cNvPr id="289" name="Google Shape;289;p29"/>
          <p:cNvGrpSpPr/>
          <p:nvPr/>
        </p:nvGrpSpPr>
        <p:grpSpPr>
          <a:xfrm>
            <a:off x="6763050" y="6081019"/>
            <a:ext cx="4762800" cy="2404122"/>
            <a:chOff x="0" y="-2054891"/>
            <a:chExt cx="6350400" cy="3205496"/>
          </a:xfrm>
        </p:grpSpPr>
        <p:sp>
          <p:nvSpPr>
            <p:cNvPr id="290" name="Google Shape;290;p29"/>
            <p:cNvSpPr txBox="1"/>
            <p:nvPr/>
          </p:nvSpPr>
          <p:spPr>
            <a:xfrm>
              <a:off x="0" y="-2054891"/>
              <a:ext cx="63504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FF6D42"/>
                  </a:solidFill>
                  <a:latin typeface="DM Sans"/>
                  <a:ea typeface="DM Sans"/>
                  <a:cs typeface="DM Sans"/>
                  <a:sym typeface="DM Sans"/>
                </a:rPr>
                <a:t>Platform Compt.</a:t>
              </a:r>
              <a:endParaRPr b="1" sz="3600">
                <a:solidFill>
                  <a:srgbClr val="FF6D42"/>
                </a:solidFill>
                <a:latin typeface="DM Sans"/>
                <a:ea typeface="DM Sans"/>
                <a:cs typeface="DM Sans"/>
                <a:sym typeface="DM Sans"/>
              </a:endParaRPr>
            </a:p>
          </p:txBody>
        </p:sp>
        <p:sp>
          <p:nvSpPr>
            <p:cNvPr id="291" name="Google Shape;291;p29"/>
            <p:cNvSpPr txBox="1"/>
            <p:nvPr/>
          </p:nvSpPr>
          <p:spPr>
            <a:xfrm>
              <a:off x="0" y="-1315995"/>
              <a:ext cx="6350400" cy="2466600"/>
            </a:xfrm>
            <a:prstGeom prst="rect">
              <a:avLst/>
            </a:prstGeom>
            <a:noFill/>
            <a:ln>
              <a:noFill/>
            </a:ln>
          </p:spPr>
          <p:txBody>
            <a:bodyPr anchorCtr="0" anchor="t" bIns="0" lIns="0" spcFirstLastPara="1" rIns="0" wrap="square" tIns="0">
              <a:noAutofit/>
            </a:bodyPr>
            <a:lstStyle/>
            <a:p>
              <a:pPr indent="-361950" lvl="0" marL="457200" marR="0" rtl="0" algn="l">
                <a:lnSpc>
                  <a:spcPct val="120000"/>
                </a:lnSpc>
                <a:spcBef>
                  <a:spcPts val="0"/>
                </a:spcBef>
                <a:spcAft>
                  <a:spcPts val="0"/>
                </a:spcAft>
                <a:buClr>
                  <a:srgbClr val="FF6D42"/>
                </a:buClr>
                <a:buSzPts val="2100"/>
                <a:buFont typeface="DM Sans"/>
                <a:buChar char="-"/>
              </a:pPr>
              <a:r>
                <a:rPr lang="en-US" sz="2100">
                  <a:solidFill>
                    <a:srgbClr val="FF6D42"/>
                  </a:solidFill>
                  <a:latin typeface="DM Sans"/>
                  <a:ea typeface="DM Sans"/>
                  <a:cs typeface="DM Sans"/>
                  <a:sym typeface="DM Sans"/>
                </a:rPr>
                <a:t>Code must be cleaned to be compatible across all devices</a:t>
              </a:r>
              <a:endParaRPr sz="2100">
                <a:solidFill>
                  <a:srgbClr val="FF6D42"/>
                </a:solidFill>
                <a:latin typeface="DM Sans"/>
                <a:ea typeface="DM Sans"/>
                <a:cs typeface="DM Sans"/>
                <a:sym typeface="DM Sans"/>
              </a:endParaRPr>
            </a:p>
            <a:p>
              <a:pPr indent="-361950" lvl="0" marL="457200" marR="0" rtl="0" algn="l">
                <a:lnSpc>
                  <a:spcPct val="120000"/>
                </a:lnSpc>
                <a:spcBef>
                  <a:spcPts val="0"/>
                </a:spcBef>
                <a:spcAft>
                  <a:spcPts val="0"/>
                </a:spcAft>
                <a:buClr>
                  <a:srgbClr val="FF6D42"/>
                </a:buClr>
                <a:buSzPts val="2100"/>
                <a:buFont typeface="DM Sans"/>
                <a:buChar char="-"/>
              </a:pPr>
              <a:r>
                <a:rPr lang="en-US" sz="2100">
                  <a:solidFill>
                    <a:srgbClr val="FF6D42"/>
                  </a:solidFill>
                  <a:latin typeface="DM Sans"/>
                  <a:ea typeface="DM Sans"/>
                  <a:cs typeface="DM Sans"/>
                  <a:sym typeface="DM Sans"/>
                </a:rPr>
                <a:t>Ensures reproducibility and cross-platform engagement</a:t>
              </a:r>
              <a:endParaRPr sz="2100">
                <a:solidFill>
                  <a:srgbClr val="FF6D42"/>
                </a:solidFill>
                <a:latin typeface="DM Sans"/>
                <a:ea typeface="DM Sans"/>
                <a:cs typeface="DM Sans"/>
                <a:sym typeface="DM Sans"/>
              </a:endParaRPr>
            </a:p>
          </p:txBody>
        </p:sp>
      </p:grpSp>
      <p:grpSp>
        <p:nvGrpSpPr>
          <p:cNvPr id="292" name="Google Shape;292;p29"/>
          <p:cNvGrpSpPr/>
          <p:nvPr/>
        </p:nvGrpSpPr>
        <p:grpSpPr>
          <a:xfrm>
            <a:off x="12146900" y="6081019"/>
            <a:ext cx="4785975" cy="2040972"/>
            <a:chOff x="-15" y="-2054891"/>
            <a:chExt cx="6381300" cy="2721296"/>
          </a:xfrm>
        </p:grpSpPr>
        <p:sp>
          <p:nvSpPr>
            <p:cNvPr id="293" name="Google Shape;293;p29"/>
            <p:cNvSpPr txBox="1"/>
            <p:nvPr/>
          </p:nvSpPr>
          <p:spPr>
            <a:xfrm>
              <a:off x="-15" y="-2054891"/>
              <a:ext cx="63813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FF6D42"/>
                  </a:solidFill>
                  <a:latin typeface="DM Sans"/>
                  <a:ea typeface="DM Sans"/>
                  <a:cs typeface="DM Sans"/>
                  <a:sym typeface="DM Sans"/>
                </a:rPr>
                <a:t>Insufficient</a:t>
              </a:r>
              <a:r>
                <a:rPr b="1" lang="en-US" sz="3600">
                  <a:solidFill>
                    <a:srgbClr val="FF6D42"/>
                  </a:solidFill>
                  <a:latin typeface="DM Sans"/>
                  <a:ea typeface="DM Sans"/>
                  <a:cs typeface="DM Sans"/>
                  <a:sym typeface="DM Sans"/>
                </a:rPr>
                <a:t> Data</a:t>
              </a:r>
              <a:endParaRPr b="1" sz="3600">
                <a:solidFill>
                  <a:srgbClr val="FF6D42"/>
                </a:solidFill>
                <a:latin typeface="DM Sans"/>
                <a:ea typeface="DM Sans"/>
                <a:cs typeface="DM Sans"/>
                <a:sym typeface="DM Sans"/>
              </a:endParaRPr>
            </a:p>
          </p:txBody>
        </p:sp>
        <p:sp>
          <p:nvSpPr>
            <p:cNvPr id="294" name="Google Shape;294;p29"/>
            <p:cNvSpPr txBox="1"/>
            <p:nvPr/>
          </p:nvSpPr>
          <p:spPr>
            <a:xfrm>
              <a:off x="-15" y="-1315995"/>
              <a:ext cx="6381300" cy="1982400"/>
            </a:xfrm>
            <a:prstGeom prst="rect">
              <a:avLst/>
            </a:prstGeom>
            <a:noFill/>
            <a:ln>
              <a:noFill/>
            </a:ln>
          </p:spPr>
          <p:txBody>
            <a:bodyPr anchorCtr="0" anchor="t" bIns="0" lIns="0" spcFirstLastPara="1" rIns="0" wrap="square" tIns="0">
              <a:spAutoFit/>
            </a:bodyPr>
            <a:lstStyle/>
            <a:p>
              <a:pPr indent="-317500" lvl="0" marL="457200" marR="0" rtl="0" algn="l">
                <a:lnSpc>
                  <a:spcPct val="120000"/>
                </a:lnSpc>
                <a:spcBef>
                  <a:spcPts val="0"/>
                </a:spcBef>
                <a:spcAft>
                  <a:spcPts val="0"/>
                </a:spcAft>
                <a:buSzPts val="1400"/>
                <a:buChar char="-"/>
              </a:pPr>
              <a:r>
                <a:rPr lang="en-US" sz="2100">
                  <a:solidFill>
                    <a:srgbClr val="FF6D42"/>
                  </a:solidFill>
                  <a:latin typeface="DM Sans"/>
                  <a:ea typeface="DM Sans"/>
                  <a:cs typeface="DM Sans"/>
                  <a:sym typeface="DM Sans"/>
                </a:rPr>
                <a:t>No data on marketing and customer </a:t>
              </a:r>
              <a:r>
                <a:rPr lang="en-US" sz="2100">
                  <a:solidFill>
                    <a:srgbClr val="FF6D42"/>
                  </a:solidFill>
                  <a:latin typeface="DM Sans"/>
                  <a:ea typeface="DM Sans"/>
                  <a:cs typeface="DM Sans"/>
                  <a:sym typeface="DM Sans"/>
                </a:rPr>
                <a:t>acquisition</a:t>
              </a:r>
              <a:r>
                <a:rPr lang="en-US" sz="2100">
                  <a:solidFill>
                    <a:srgbClr val="FF6D42"/>
                  </a:solidFill>
                  <a:latin typeface="DM Sans"/>
                  <a:ea typeface="DM Sans"/>
                  <a:cs typeface="DM Sans"/>
                  <a:sym typeface="DM Sans"/>
                </a:rPr>
                <a:t> costs </a:t>
              </a:r>
              <a:r>
                <a:rPr lang="en-US" sz="2100">
                  <a:solidFill>
                    <a:srgbClr val="FF6D42"/>
                  </a:solidFill>
                  <a:latin typeface="DM Sans"/>
                  <a:ea typeface="DM Sans"/>
                  <a:cs typeface="DM Sans"/>
                  <a:sym typeface="DM Sans"/>
                </a:rPr>
                <a:t>even though</a:t>
              </a:r>
              <a:r>
                <a:rPr lang="en-US" sz="2100">
                  <a:solidFill>
                    <a:srgbClr val="FF6D42"/>
                  </a:solidFill>
                  <a:latin typeface="DM Sans"/>
                  <a:ea typeface="DM Sans"/>
                  <a:cs typeface="DM Sans"/>
                  <a:sym typeface="DM Sans"/>
                </a:rPr>
                <a:t> it was one of the biggest challenge</a:t>
              </a:r>
              <a:endParaRPr/>
            </a:p>
          </p:txBody>
        </p:sp>
      </p:grpSp>
      <p:sp>
        <p:nvSpPr>
          <p:cNvPr id="295" name="Google Shape;295;p29"/>
          <p:cNvSpPr txBox="1"/>
          <p:nvPr/>
        </p:nvSpPr>
        <p:spPr>
          <a:xfrm>
            <a:off x="842775" y="801250"/>
            <a:ext cx="16492200" cy="1077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50">
                <a:solidFill>
                  <a:schemeClr val="lt1"/>
                </a:solidFill>
                <a:latin typeface="DM Sans"/>
                <a:ea typeface="DM Sans"/>
                <a:cs typeface="DM Sans"/>
                <a:sym typeface="DM Sans"/>
              </a:rPr>
              <a:t>Roadblocks &amp; Resolutions</a:t>
            </a:r>
            <a:endParaRPr b="1" sz="8750">
              <a:solidFill>
                <a:schemeClr val="lt1"/>
              </a:solidFill>
              <a:latin typeface="DM Sans"/>
              <a:ea typeface="DM Sans"/>
              <a:cs typeface="DM Sans"/>
              <a:sym typeface="DM Sans"/>
            </a:endParaRPr>
          </a:p>
        </p:txBody>
      </p:sp>
      <p:sp>
        <p:nvSpPr>
          <p:cNvPr id="296" name="Google Shape;296;p2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grpSp>
        <p:nvGrpSpPr>
          <p:cNvPr id="297" name="Google Shape;297;p29"/>
          <p:cNvGrpSpPr/>
          <p:nvPr/>
        </p:nvGrpSpPr>
        <p:grpSpPr>
          <a:xfrm>
            <a:off x="1379200" y="3048006"/>
            <a:ext cx="4764825" cy="1287581"/>
            <a:chOff x="1022200" y="-601220"/>
            <a:chExt cx="6353100" cy="580541"/>
          </a:xfrm>
        </p:grpSpPr>
        <p:sp>
          <p:nvSpPr>
            <p:cNvPr id="298" name="Google Shape;298;p29"/>
            <p:cNvSpPr txBox="1"/>
            <p:nvPr/>
          </p:nvSpPr>
          <p:spPr>
            <a:xfrm>
              <a:off x="1022200" y="-601220"/>
              <a:ext cx="6353100" cy="24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FF6D42"/>
                  </a:solidFill>
                  <a:latin typeface="DM Sans"/>
                  <a:ea typeface="DM Sans"/>
                  <a:cs typeface="DM Sans"/>
                  <a:sym typeface="DM Sans"/>
                </a:rPr>
                <a:t>Stat. Significance</a:t>
              </a:r>
              <a:endParaRPr b="1" sz="3600">
                <a:solidFill>
                  <a:srgbClr val="FF6D42"/>
                </a:solidFill>
                <a:latin typeface="DM Sans"/>
                <a:ea typeface="DM Sans"/>
                <a:cs typeface="DM Sans"/>
                <a:sym typeface="DM Sans"/>
              </a:endParaRPr>
            </a:p>
          </p:txBody>
        </p:sp>
        <p:sp>
          <p:nvSpPr>
            <p:cNvPr id="299" name="Google Shape;299;p29"/>
            <p:cNvSpPr txBox="1"/>
            <p:nvPr/>
          </p:nvSpPr>
          <p:spPr>
            <a:xfrm>
              <a:off x="1022200" y="-341380"/>
              <a:ext cx="6353100" cy="320700"/>
            </a:xfrm>
            <a:prstGeom prst="rect">
              <a:avLst/>
            </a:prstGeom>
            <a:noFill/>
            <a:ln>
              <a:noFill/>
            </a:ln>
          </p:spPr>
          <p:txBody>
            <a:bodyPr anchorCtr="0" anchor="t" bIns="0" lIns="0" spcFirstLastPara="1" rIns="0" wrap="square" tIns="0">
              <a:spAutoFit/>
            </a:bodyPr>
            <a:lstStyle/>
            <a:p>
              <a:pPr indent="-361950" lvl="0" marL="457200" marR="0" rtl="0" algn="l">
                <a:lnSpc>
                  <a:spcPct val="120000"/>
                </a:lnSpc>
                <a:spcBef>
                  <a:spcPts val="0"/>
                </a:spcBef>
                <a:spcAft>
                  <a:spcPts val="0"/>
                </a:spcAft>
                <a:buClr>
                  <a:srgbClr val="FF6D42"/>
                </a:buClr>
                <a:buSzPts val="2100"/>
                <a:buFont typeface="DM Sans"/>
                <a:buChar char="-"/>
              </a:pPr>
              <a:r>
                <a:rPr lang="en-US" sz="2100">
                  <a:solidFill>
                    <a:srgbClr val="FF6D42"/>
                  </a:solidFill>
                  <a:latin typeface="DM Sans"/>
                  <a:ea typeface="DM Sans"/>
                  <a:cs typeface="DM Sans"/>
                  <a:sym typeface="DM Sans"/>
                </a:rPr>
                <a:t>Correlation Analysis</a:t>
              </a:r>
              <a:endParaRPr sz="2100">
                <a:solidFill>
                  <a:srgbClr val="FF6D42"/>
                </a:solidFill>
                <a:latin typeface="DM Sans"/>
                <a:ea typeface="DM Sans"/>
                <a:cs typeface="DM Sans"/>
                <a:sym typeface="DM Sans"/>
              </a:endParaRPr>
            </a:p>
            <a:p>
              <a:pPr indent="-361950" lvl="0" marL="457200" rtl="0" algn="l">
                <a:lnSpc>
                  <a:spcPct val="120000"/>
                </a:lnSpc>
                <a:spcBef>
                  <a:spcPts val="0"/>
                </a:spcBef>
                <a:spcAft>
                  <a:spcPts val="0"/>
                </a:spcAft>
                <a:buClr>
                  <a:srgbClr val="FF6D42"/>
                </a:buClr>
                <a:buSzPts val="2100"/>
                <a:buFont typeface="DM Sans"/>
                <a:buChar char="-"/>
              </a:pPr>
              <a:r>
                <a:rPr lang="en-US" sz="2100">
                  <a:solidFill>
                    <a:srgbClr val="FF6D42"/>
                  </a:solidFill>
                  <a:latin typeface="DM Sans"/>
                  <a:ea typeface="DM Sans"/>
                  <a:cs typeface="DM Sans"/>
                  <a:sym typeface="DM Sans"/>
                </a:rPr>
                <a:t>Feature Engineering</a:t>
              </a:r>
              <a:endParaRPr sz="2100">
                <a:solidFill>
                  <a:srgbClr val="FF6D42"/>
                </a:solidFill>
                <a:latin typeface="DM Sans"/>
                <a:ea typeface="DM Sans"/>
                <a:cs typeface="DM Sans"/>
                <a:sym typeface="DM Sans"/>
              </a:endParaRPr>
            </a:p>
          </p:txBody>
        </p:sp>
      </p:gr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0"/>
          <p:cNvSpPr txBox="1"/>
          <p:nvPr/>
        </p:nvSpPr>
        <p:spPr>
          <a:xfrm>
            <a:off x="1028700" y="4554220"/>
            <a:ext cx="16230600" cy="25614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10400">
                <a:solidFill>
                  <a:srgbClr val="FF6D42"/>
                </a:solidFill>
                <a:latin typeface="DM Sans"/>
                <a:ea typeface="DM Sans"/>
                <a:cs typeface="DM Sans"/>
                <a:sym typeface="DM Sans"/>
              </a:rPr>
              <a:t>Strategic Recommendations</a:t>
            </a:r>
            <a:endParaRPr/>
          </a:p>
        </p:txBody>
      </p:sp>
      <p:pic>
        <p:nvPicPr>
          <p:cNvPr id="305" name="Google Shape;305;p30"/>
          <p:cNvPicPr preferRelativeResize="0"/>
          <p:nvPr/>
        </p:nvPicPr>
        <p:blipFill>
          <a:blip r:embed="rId3">
            <a:alphaModFix/>
          </a:blip>
          <a:stretch>
            <a:fillRect/>
          </a:stretch>
        </p:blipFill>
        <p:spPr>
          <a:xfrm>
            <a:off x="-1878328" y="-3606503"/>
            <a:ext cx="22044652" cy="14316090"/>
          </a:xfrm>
          <a:prstGeom prst="rect">
            <a:avLst/>
          </a:prstGeom>
          <a:noFill/>
          <a:ln>
            <a:noFill/>
          </a:ln>
        </p:spPr>
      </p:pic>
    </p:spTree>
  </p:cSld>
  <p:clrMapOvr>
    <a:masterClrMapping/>
  </p:clrMapOvr>
  <p:transition>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0" scaled="0"/>
        </a:gradFill>
      </p:bgPr>
    </p:bg>
    <p:spTree>
      <p:nvGrpSpPr>
        <p:cNvPr id="309" name="Shape 309"/>
        <p:cNvGrpSpPr/>
        <p:nvPr/>
      </p:nvGrpSpPr>
      <p:grpSpPr>
        <a:xfrm>
          <a:off x="0" y="0"/>
          <a:ext cx="0" cy="0"/>
          <a:chOff x="0" y="0"/>
          <a:chExt cx="0" cy="0"/>
        </a:xfrm>
      </p:grpSpPr>
      <p:sp>
        <p:nvSpPr>
          <p:cNvPr id="310" name="Google Shape;310;p31"/>
          <p:cNvSpPr txBox="1"/>
          <p:nvPr/>
        </p:nvSpPr>
        <p:spPr>
          <a:xfrm>
            <a:off x="1028700" y="1209675"/>
            <a:ext cx="162306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rgbClr val="FFFFFF"/>
                </a:solidFill>
                <a:latin typeface="DM Sans"/>
                <a:ea typeface="DM Sans"/>
                <a:cs typeface="DM Sans"/>
                <a:sym typeface="DM Sans"/>
              </a:rPr>
              <a:t>Recommendation 1</a:t>
            </a:r>
            <a:endParaRPr/>
          </a:p>
        </p:txBody>
      </p:sp>
      <p:sp>
        <p:nvSpPr>
          <p:cNvPr id="311" name="Google Shape;311;p31"/>
          <p:cNvSpPr txBox="1"/>
          <p:nvPr/>
        </p:nvSpPr>
        <p:spPr>
          <a:xfrm>
            <a:off x="1028700" y="2482250"/>
            <a:ext cx="16230600" cy="1083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1" i="1" lang="en-US" sz="3500">
                <a:solidFill>
                  <a:srgbClr val="FFFFFF"/>
                </a:solidFill>
                <a:latin typeface="DM Sans"/>
                <a:ea typeface="DM Sans"/>
                <a:cs typeface="DM Sans"/>
                <a:sym typeface="DM Sans"/>
              </a:rPr>
              <a:t>Strategies to Attract &amp; Convert High-Value Customers</a:t>
            </a:r>
            <a:endParaRPr b="1" i="1" sz="3500">
              <a:solidFill>
                <a:srgbClr val="FFFFFF"/>
              </a:solidFill>
              <a:latin typeface="DM Sans"/>
              <a:ea typeface="DM Sans"/>
              <a:cs typeface="DM Sans"/>
              <a:sym typeface="DM Sans"/>
            </a:endParaRPr>
          </a:p>
        </p:txBody>
      </p:sp>
      <p:sp>
        <p:nvSpPr>
          <p:cNvPr id="312" name="Google Shape;312;p31"/>
          <p:cNvSpPr txBox="1"/>
          <p:nvPr/>
        </p:nvSpPr>
        <p:spPr>
          <a:xfrm>
            <a:off x="1028700" y="3196700"/>
            <a:ext cx="16230600" cy="6533700"/>
          </a:xfrm>
          <a:prstGeom prst="rect">
            <a:avLst/>
          </a:prstGeom>
          <a:noFill/>
          <a:ln>
            <a:noFill/>
          </a:ln>
        </p:spPr>
        <p:txBody>
          <a:bodyPr anchorCtr="0" anchor="t" bIns="91425" lIns="91425" spcFirstLastPara="1" rIns="91425" wrap="square" tIns="91425">
            <a:noAutofit/>
          </a:bodyPr>
          <a:lstStyle/>
          <a:p>
            <a:pPr indent="-431800" lvl="0" marL="457200" rtl="0" algn="l">
              <a:lnSpc>
                <a:spcPct val="150000"/>
              </a:lnSpc>
              <a:spcBef>
                <a:spcPts val="0"/>
              </a:spcBef>
              <a:spcAft>
                <a:spcPts val="0"/>
              </a:spcAft>
              <a:buClr>
                <a:schemeClr val="lt1"/>
              </a:buClr>
              <a:buSzPts val="3200"/>
              <a:buFont typeface="DM Sans"/>
              <a:buChar char="●"/>
            </a:pPr>
            <a:r>
              <a:rPr b="1" lang="en-US" sz="3200">
                <a:solidFill>
                  <a:schemeClr val="lt1"/>
                </a:solidFill>
                <a:latin typeface="DM Sans"/>
                <a:ea typeface="DM Sans"/>
                <a:cs typeface="DM Sans"/>
                <a:sym typeface="DM Sans"/>
              </a:rPr>
              <a:t>Prioritize new customers </a:t>
            </a:r>
            <a:endParaRPr b="1" sz="3200">
              <a:solidFill>
                <a:schemeClr val="lt1"/>
              </a:solidFill>
              <a:latin typeface="DM Sans"/>
              <a:ea typeface="DM Sans"/>
              <a:cs typeface="DM Sans"/>
              <a:sym typeface="DM Sans"/>
            </a:endParaRPr>
          </a:p>
          <a:p>
            <a:pPr indent="-406400" lvl="1" marL="914400" rtl="0" algn="l">
              <a:lnSpc>
                <a:spcPct val="150000"/>
              </a:lnSpc>
              <a:spcBef>
                <a:spcPts val="0"/>
              </a:spcBef>
              <a:spcAft>
                <a:spcPts val="0"/>
              </a:spcAft>
              <a:buClr>
                <a:schemeClr val="lt1"/>
              </a:buClr>
              <a:buSzPts val="2800"/>
              <a:buFont typeface="DM Sans"/>
              <a:buChar char="○"/>
            </a:pPr>
            <a:r>
              <a:rPr lang="en-US" sz="2800">
                <a:solidFill>
                  <a:schemeClr val="lt1"/>
                </a:solidFill>
                <a:latin typeface="DM Sans"/>
                <a:ea typeface="DM Sans"/>
                <a:cs typeface="DM Sans"/>
                <a:sym typeface="DM Sans"/>
              </a:rPr>
              <a:t>Launch a Referral Program</a:t>
            </a:r>
            <a:endParaRPr sz="2800">
              <a:solidFill>
                <a:schemeClr val="lt1"/>
              </a:solidFill>
              <a:latin typeface="DM Sans"/>
              <a:ea typeface="DM Sans"/>
              <a:cs typeface="DM Sans"/>
              <a:sym typeface="DM Sans"/>
            </a:endParaRPr>
          </a:p>
          <a:p>
            <a:pPr indent="-406400" lvl="2" marL="1371600" rtl="0" algn="l">
              <a:lnSpc>
                <a:spcPct val="150000"/>
              </a:lnSpc>
              <a:spcBef>
                <a:spcPts val="0"/>
              </a:spcBef>
              <a:spcAft>
                <a:spcPts val="0"/>
              </a:spcAft>
              <a:buClr>
                <a:schemeClr val="lt1"/>
              </a:buClr>
              <a:buSzPts val="2800"/>
              <a:buFont typeface="DM Sans"/>
              <a:buChar char="■"/>
            </a:pPr>
            <a:r>
              <a:rPr lang="en-US" sz="2800">
                <a:solidFill>
                  <a:schemeClr val="lt1"/>
                </a:solidFill>
                <a:latin typeface="DM Sans"/>
                <a:ea typeface="DM Sans"/>
                <a:cs typeface="DM Sans"/>
                <a:sym typeface="DM Sans"/>
              </a:rPr>
              <a:t>Reward existing customers for bringing in new buyers.</a:t>
            </a:r>
            <a:endParaRPr sz="2800">
              <a:solidFill>
                <a:schemeClr val="lt1"/>
              </a:solidFill>
              <a:latin typeface="DM Sans"/>
              <a:ea typeface="DM Sans"/>
              <a:cs typeface="DM Sans"/>
              <a:sym typeface="DM Sans"/>
            </a:endParaRPr>
          </a:p>
          <a:p>
            <a:pPr indent="-406400" lvl="2" marL="1371600" rtl="0" algn="l">
              <a:lnSpc>
                <a:spcPct val="150000"/>
              </a:lnSpc>
              <a:spcBef>
                <a:spcPts val="0"/>
              </a:spcBef>
              <a:spcAft>
                <a:spcPts val="0"/>
              </a:spcAft>
              <a:buClr>
                <a:schemeClr val="lt1"/>
              </a:buClr>
              <a:buSzPts val="2800"/>
              <a:buFont typeface="DM Sans"/>
              <a:buChar char="■"/>
            </a:pPr>
            <a:r>
              <a:rPr lang="en-US" sz="2800">
                <a:solidFill>
                  <a:schemeClr val="lt1"/>
                </a:solidFill>
                <a:latin typeface="DM Sans"/>
                <a:ea typeface="DM Sans"/>
                <a:cs typeface="DM Sans"/>
                <a:sym typeface="DM Sans"/>
              </a:rPr>
              <a:t>Offer discounts, store credits, or exclusive perks for successful referrals.</a:t>
            </a:r>
            <a:endParaRPr sz="2800">
              <a:solidFill>
                <a:schemeClr val="lt1"/>
              </a:solidFill>
              <a:latin typeface="DM Sans"/>
              <a:ea typeface="DM Sans"/>
              <a:cs typeface="DM Sans"/>
              <a:sym typeface="DM Sans"/>
            </a:endParaRPr>
          </a:p>
          <a:p>
            <a:pPr indent="-406400" lvl="1" marL="914400" rtl="0" algn="l">
              <a:lnSpc>
                <a:spcPct val="150000"/>
              </a:lnSpc>
              <a:spcBef>
                <a:spcPts val="0"/>
              </a:spcBef>
              <a:spcAft>
                <a:spcPts val="0"/>
              </a:spcAft>
              <a:buClr>
                <a:schemeClr val="lt1"/>
              </a:buClr>
              <a:buSzPts val="2800"/>
              <a:buFont typeface="DM Sans"/>
              <a:buChar char="○"/>
            </a:pPr>
            <a:r>
              <a:rPr lang="en-US" sz="2800">
                <a:solidFill>
                  <a:schemeClr val="lt1"/>
                </a:solidFill>
                <a:latin typeface="DM Sans"/>
                <a:ea typeface="DM Sans"/>
                <a:cs typeface="DM Sans"/>
                <a:sym typeface="DM Sans"/>
              </a:rPr>
              <a:t>First-Purchase Discounts and Limited time bundles</a:t>
            </a:r>
            <a:endParaRPr sz="2800">
              <a:solidFill>
                <a:schemeClr val="lt1"/>
              </a:solidFill>
              <a:latin typeface="DM Sans"/>
              <a:ea typeface="DM Sans"/>
              <a:cs typeface="DM Sans"/>
              <a:sym typeface="DM Sans"/>
            </a:endParaRPr>
          </a:p>
          <a:p>
            <a:pPr indent="-406400" lvl="1" marL="914400" rtl="0" algn="l">
              <a:lnSpc>
                <a:spcPct val="150000"/>
              </a:lnSpc>
              <a:spcBef>
                <a:spcPts val="0"/>
              </a:spcBef>
              <a:spcAft>
                <a:spcPts val="0"/>
              </a:spcAft>
              <a:buClr>
                <a:schemeClr val="lt1"/>
              </a:buClr>
              <a:buSzPts val="2800"/>
              <a:buFont typeface="DM Sans"/>
              <a:buChar char="○"/>
            </a:pPr>
            <a:r>
              <a:rPr lang="en-US" sz="2800">
                <a:solidFill>
                  <a:schemeClr val="lt1"/>
                </a:solidFill>
                <a:latin typeface="DM Sans"/>
                <a:ea typeface="DM Sans"/>
                <a:cs typeface="DM Sans"/>
                <a:sym typeface="DM Sans"/>
              </a:rPr>
              <a:t>Targeted follow-up campaigns</a:t>
            </a:r>
            <a:endParaRPr sz="2800">
              <a:solidFill>
                <a:schemeClr val="lt1"/>
              </a:solidFill>
              <a:latin typeface="DM Sans"/>
              <a:ea typeface="DM Sans"/>
              <a:cs typeface="DM Sans"/>
              <a:sym typeface="DM Sans"/>
            </a:endParaRPr>
          </a:p>
          <a:p>
            <a:pPr indent="0" lvl="0" marL="914400" rtl="0" algn="l">
              <a:lnSpc>
                <a:spcPct val="100000"/>
              </a:lnSpc>
              <a:spcBef>
                <a:spcPts val="0"/>
              </a:spcBef>
              <a:spcAft>
                <a:spcPts val="0"/>
              </a:spcAft>
              <a:buNone/>
            </a:pPr>
            <a:r>
              <a:t/>
            </a:r>
            <a:endParaRPr sz="1700">
              <a:solidFill>
                <a:schemeClr val="lt1"/>
              </a:solidFill>
              <a:latin typeface="DM Sans"/>
              <a:ea typeface="DM Sans"/>
              <a:cs typeface="DM Sans"/>
              <a:sym typeface="DM Sans"/>
            </a:endParaRPr>
          </a:p>
          <a:p>
            <a:pPr indent="-406400" lvl="0" marL="457200" rtl="0" algn="l">
              <a:lnSpc>
                <a:spcPct val="150000"/>
              </a:lnSpc>
              <a:spcBef>
                <a:spcPts val="0"/>
              </a:spcBef>
              <a:spcAft>
                <a:spcPts val="0"/>
              </a:spcAft>
              <a:buClr>
                <a:schemeClr val="lt1"/>
              </a:buClr>
              <a:buSzPts val="2800"/>
              <a:buFont typeface="DM Sans"/>
              <a:buChar char="●"/>
            </a:pPr>
            <a:r>
              <a:rPr b="1" lang="en-US" sz="2800">
                <a:solidFill>
                  <a:schemeClr val="lt1"/>
                </a:solidFill>
                <a:latin typeface="DM Sans"/>
                <a:ea typeface="DM Sans"/>
                <a:cs typeface="DM Sans"/>
                <a:sym typeface="DM Sans"/>
              </a:rPr>
              <a:t>Don’t forget about your old customers </a:t>
            </a:r>
            <a:endParaRPr b="1" sz="2800">
              <a:solidFill>
                <a:schemeClr val="lt1"/>
              </a:solidFill>
              <a:latin typeface="DM Sans"/>
              <a:ea typeface="DM Sans"/>
              <a:cs typeface="DM Sans"/>
              <a:sym typeface="DM Sans"/>
            </a:endParaRPr>
          </a:p>
          <a:p>
            <a:pPr indent="-406400" lvl="1" marL="914400" rtl="0" algn="l">
              <a:lnSpc>
                <a:spcPct val="150000"/>
              </a:lnSpc>
              <a:spcBef>
                <a:spcPts val="0"/>
              </a:spcBef>
              <a:spcAft>
                <a:spcPts val="0"/>
              </a:spcAft>
              <a:buClr>
                <a:schemeClr val="lt1"/>
              </a:buClr>
              <a:buSzPts val="2800"/>
              <a:buFont typeface="DM Sans"/>
              <a:buChar char="○"/>
            </a:pPr>
            <a:r>
              <a:rPr lang="en-US" sz="2800">
                <a:solidFill>
                  <a:schemeClr val="lt1"/>
                </a:solidFill>
                <a:latin typeface="DM Sans"/>
                <a:ea typeface="DM Sans"/>
                <a:cs typeface="DM Sans"/>
                <a:sym typeface="DM Sans"/>
              </a:rPr>
              <a:t>3+ months  = $26.3M  vs 0-3months = $17.5M</a:t>
            </a:r>
            <a:endParaRPr sz="2800">
              <a:solidFill>
                <a:schemeClr val="lt1"/>
              </a:solidFill>
              <a:latin typeface="DM Sans"/>
              <a:ea typeface="DM Sans"/>
              <a:cs typeface="DM Sans"/>
              <a:sym typeface="DM Sans"/>
            </a:endParaRPr>
          </a:p>
          <a:p>
            <a:pPr indent="-406400" lvl="1" marL="914400" rtl="0" algn="l">
              <a:lnSpc>
                <a:spcPct val="150000"/>
              </a:lnSpc>
              <a:spcBef>
                <a:spcPts val="0"/>
              </a:spcBef>
              <a:spcAft>
                <a:spcPts val="0"/>
              </a:spcAft>
              <a:buClr>
                <a:schemeClr val="lt1"/>
              </a:buClr>
              <a:buSzPts val="2800"/>
              <a:buFont typeface="DM Sans"/>
              <a:buChar char="○"/>
            </a:pPr>
            <a:r>
              <a:rPr lang="en-US" sz="2800">
                <a:solidFill>
                  <a:schemeClr val="lt1"/>
                </a:solidFill>
                <a:latin typeface="DM Sans"/>
                <a:ea typeface="DM Sans"/>
                <a:cs typeface="DM Sans"/>
                <a:sym typeface="DM Sans"/>
              </a:rPr>
              <a:t>Loyalty program </a:t>
            </a:r>
            <a:endParaRPr sz="2800">
              <a:solidFill>
                <a:schemeClr val="lt1"/>
              </a:solidFill>
              <a:latin typeface="DM Sans"/>
              <a:ea typeface="DM Sans"/>
              <a:cs typeface="DM Sans"/>
              <a:sym typeface="DM Sans"/>
            </a:endParaRPr>
          </a:p>
          <a:p>
            <a:pPr indent="-406400" lvl="1" marL="914400" rtl="0" algn="l">
              <a:lnSpc>
                <a:spcPct val="150000"/>
              </a:lnSpc>
              <a:spcBef>
                <a:spcPts val="0"/>
              </a:spcBef>
              <a:spcAft>
                <a:spcPts val="0"/>
              </a:spcAft>
              <a:buClr>
                <a:schemeClr val="lt1"/>
              </a:buClr>
              <a:buSzPts val="2800"/>
              <a:buFont typeface="DM Sans"/>
              <a:buChar char="○"/>
            </a:pPr>
            <a:r>
              <a:rPr lang="en-US" sz="2800">
                <a:solidFill>
                  <a:schemeClr val="lt1"/>
                </a:solidFill>
                <a:latin typeface="DM Sans"/>
                <a:ea typeface="DM Sans"/>
                <a:cs typeface="DM Sans"/>
                <a:sym typeface="DM Sans"/>
              </a:rPr>
              <a:t>Exceptional products and services helps build and maintain trust</a:t>
            </a:r>
            <a:endParaRPr sz="2800">
              <a:solidFill>
                <a:schemeClr val="lt1"/>
              </a:solidFill>
              <a:latin typeface="DM Sans"/>
              <a:ea typeface="DM Sans"/>
              <a:cs typeface="DM Sans"/>
              <a:sym typeface="DM Sans"/>
            </a:endParaRPr>
          </a:p>
        </p:txBody>
      </p:sp>
      <p:pic>
        <p:nvPicPr>
          <p:cNvPr id="313" name="Google Shape;313;p31"/>
          <p:cNvPicPr preferRelativeResize="0"/>
          <p:nvPr/>
        </p:nvPicPr>
        <p:blipFill>
          <a:blip r:embed="rId3">
            <a:alphaModFix/>
          </a:blip>
          <a:stretch>
            <a:fillRect/>
          </a:stretch>
        </p:blipFill>
        <p:spPr>
          <a:xfrm rot="10800000">
            <a:off x="11540325" y="-6872997"/>
            <a:ext cx="12191401" cy="9643576"/>
          </a:xfrm>
          <a:prstGeom prst="rect">
            <a:avLst/>
          </a:prstGeom>
          <a:noFill/>
          <a:ln>
            <a:noFill/>
          </a:ln>
        </p:spPr>
      </p:pic>
    </p:spTree>
  </p:cSld>
  <p:clrMapOvr>
    <a:masterClrMapping/>
  </p:clrMapOvr>
  <p:transition>
    <p:fad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6" scaled="0"/>
        </a:gradFill>
      </p:bgPr>
    </p:bg>
    <p:spTree>
      <p:nvGrpSpPr>
        <p:cNvPr id="317" name="Shape 317"/>
        <p:cNvGrpSpPr/>
        <p:nvPr/>
      </p:nvGrpSpPr>
      <p:grpSpPr>
        <a:xfrm>
          <a:off x="0" y="0"/>
          <a:ext cx="0" cy="0"/>
          <a:chOff x="0" y="0"/>
          <a:chExt cx="0" cy="0"/>
        </a:xfrm>
      </p:grpSpPr>
      <p:sp>
        <p:nvSpPr>
          <p:cNvPr id="318" name="Google Shape;318;p32"/>
          <p:cNvSpPr txBox="1"/>
          <p:nvPr/>
        </p:nvSpPr>
        <p:spPr>
          <a:xfrm>
            <a:off x="1028700" y="1035050"/>
            <a:ext cx="162306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rgbClr val="FFFFFF"/>
                </a:solidFill>
                <a:latin typeface="DM Sans"/>
                <a:ea typeface="DM Sans"/>
                <a:cs typeface="DM Sans"/>
                <a:sym typeface="DM Sans"/>
              </a:rPr>
              <a:t>Recommendation 2</a:t>
            </a:r>
            <a:endParaRPr/>
          </a:p>
        </p:txBody>
      </p:sp>
      <p:sp>
        <p:nvSpPr>
          <p:cNvPr id="319" name="Google Shape;319;p32"/>
          <p:cNvSpPr txBox="1"/>
          <p:nvPr/>
        </p:nvSpPr>
        <p:spPr>
          <a:xfrm>
            <a:off x="1028700" y="2293275"/>
            <a:ext cx="16230600" cy="1083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1" i="1" lang="en-US" sz="3600">
                <a:solidFill>
                  <a:srgbClr val="FFFFFF"/>
                </a:solidFill>
                <a:latin typeface="DM Sans"/>
                <a:ea typeface="DM Sans"/>
                <a:cs typeface="DM Sans"/>
                <a:sym typeface="DM Sans"/>
              </a:rPr>
              <a:t>How to target customers and optimize marketing costs? </a:t>
            </a:r>
            <a:endParaRPr b="1" i="1" sz="2900"/>
          </a:p>
        </p:txBody>
      </p:sp>
      <p:sp>
        <p:nvSpPr>
          <p:cNvPr id="320" name="Google Shape;320;p32"/>
          <p:cNvSpPr txBox="1"/>
          <p:nvPr/>
        </p:nvSpPr>
        <p:spPr>
          <a:xfrm>
            <a:off x="916325" y="3197100"/>
            <a:ext cx="16230600" cy="6359700"/>
          </a:xfrm>
          <a:prstGeom prst="rect">
            <a:avLst/>
          </a:prstGeom>
          <a:noFill/>
          <a:ln>
            <a:noFill/>
          </a:ln>
        </p:spPr>
        <p:txBody>
          <a:bodyPr anchorCtr="0" anchor="t" bIns="91425" lIns="91425" spcFirstLastPara="1" rIns="91425" wrap="square" tIns="91425">
            <a:noAutofit/>
          </a:bodyPr>
          <a:lstStyle/>
          <a:p>
            <a:pPr indent="-412750" lvl="0" marL="457200" rtl="0" algn="l">
              <a:lnSpc>
                <a:spcPct val="150000"/>
              </a:lnSpc>
              <a:spcBef>
                <a:spcPts val="0"/>
              </a:spcBef>
              <a:spcAft>
                <a:spcPts val="0"/>
              </a:spcAft>
              <a:buClr>
                <a:schemeClr val="lt1"/>
              </a:buClr>
              <a:buSzPts val="2900"/>
              <a:buFont typeface="DM Sans"/>
              <a:buChar char="●"/>
            </a:pPr>
            <a:r>
              <a:rPr b="1" lang="en-US" sz="2900">
                <a:solidFill>
                  <a:schemeClr val="lt1"/>
                </a:solidFill>
                <a:latin typeface="DM Sans"/>
                <a:ea typeface="DM Sans"/>
                <a:cs typeface="DM Sans"/>
                <a:sym typeface="DM Sans"/>
              </a:rPr>
              <a:t>Don’t target demographics</a:t>
            </a:r>
            <a:r>
              <a:rPr lang="en-US" sz="2900">
                <a:solidFill>
                  <a:schemeClr val="lt1"/>
                </a:solidFill>
                <a:latin typeface="DM Sans"/>
                <a:ea typeface="DM Sans"/>
                <a:cs typeface="DM Sans"/>
                <a:sym typeface="DM Sans"/>
              </a:rPr>
              <a:t> - though it may seem intuitive</a:t>
            </a:r>
            <a:endParaRPr sz="2900">
              <a:solidFill>
                <a:schemeClr val="lt1"/>
              </a:solidFill>
              <a:latin typeface="DM Sans"/>
              <a:ea typeface="DM Sans"/>
              <a:cs typeface="DM Sans"/>
              <a:sym typeface="DM Sans"/>
            </a:endParaRPr>
          </a:p>
          <a:p>
            <a:pPr indent="-412750" lvl="0" marL="457200" rtl="0" algn="l">
              <a:lnSpc>
                <a:spcPct val="150000"/>
              </a:lnSpc>
              <a:spcBef>
                <a:spcPts val="0"/>
              </a:spcBef>
              <a:spcAft>
                <a:spcPts val="0"/>
              </a:spcAft>
              <a:buClr>
                <a:schemeClr val="lt1"/>
              </a:buClr>
              <a:buSzPts val="2900"/>
              <a:buFont typeface="DM Sans"/>
              <a:buChar char="●"/>
            </a:pPr>
            <a:r>
              <a:rPr b="1" lang="en-US" sz="2900">
                <a:solidFill>
                  <a:schemeClr val="lt1"/>
                </a:solidFill>
                <a:latin typeface="DM Sans"/>
                <a:ea typeface="DM Sans"/>
                <a:cs typeface="DM Sans"/>
                <a:sym typeface="DM Sans"/>
              </a:rPr>
              <a:t>Do target shopping behaviors </a:t>
            </a:r>
            <a:endParaRPr b="1" sz="2900">
              <a:solidFill>
                <a:schemeClr val="lt1"/>
              </a:solidFill>
              <a:latin typeface="DM Sans"/>
              <a:ea typeface="DM Sans"/>
              <a:cs typeface="DM Sans"/>
              <a:sym typeface="DM Sans"/>
            </a:endParaRPr>
          </a:p>
          <a:p>
            <a:pPr indent="-412750" lvl="2" marL="1371600" rtl="0" algn="l">
              <a:lnSpc>
                <a:spcPct val="150000"/>
              </a:lnSpc>
              <a:spcBef>
                <a:spcPts val="0"/>
              </a:spcBef>
              <a:spcAft>
                <a:spcPts val="0"/>
              </a:spcAft>
              <a:buClr>
                <a:schemeClr val="lt1"/>
              </a:buClr>
              <a:buSzPts val="2900"/>
              <a:buFont typeface="DM Sans"/>
              <a:buChar char="■"/>
            </a:pPr>
            <a:r>
              <a:rPr lang="en-US" sz="2900">
                <a:solidFill>
                  <a:schemeClr val="lt1"/>
                </a:solidFill>
                <a:latin typeface="DM Sans"/>
                <a:ea typeface="DM Sans"/>
                <a:cs typeface="DM Sans"/>
                <a:sym typeface="DM Sans"/>
              </a:rPr>
              <a:t>Purchase Frequency </a:t>
            </a:r>
            <a:endParaRPr sz="2900">
              <a:solidFill>
                <a:schemeClr val="lt1"/>
              </a:solidFill>
              <a:latin typeface="DM Sans"/>
              <a:ea typeface="DM Sans"/>
              <a:cs typeface="DM Sans"/>
              <a:sym typeface="DM Sans"/>
            </a:endParaRPr>
          </a:p>
          <a:p>
            <a:pPr indent="-412750" lvl="3" marL="1828800" rtl="0" algn="l">
              <a:lnSpc>
                <a:spcPct val="150000"/>
              </a:lnSpc>
              <a:spcBef>
                <a:spcPts val="0"/>
              </a:spcBef>
              <a:spcAft>
                <a:spcPts val="0"/>
              </a:spcAft>
              <a:buClr>
                <a:schemeClr val="lt1"/>
              </a:buClr>
              <a:buSzPts val="2900"/>
              <a:buFont typeface="DM Sans"/>
              <a:buChar char="●"/>
            </a:pPr>
            <a:r>
              <a:rPr lang="en-US" sz="2900">
                <a:solidFill>
                  <a:schemeClr val="lt1"/>
                </a:solidFill>
                <a:latin typeface="DM Sans"/>
                <a:ea typeface="DM Sans"/>
                <a:cs typeface="DM Sans"/>
                <a:sym typeface="DM Sans"/>
              </a:rPr>
              <a:t>~ $3,919 increase in CLV per additional purchase</a:t>
            </a:r>
            <a:endParaRPr sz="2900">
              <a:solidFill>
                <a:schemeClr val="lt1"/>
              </a:solidFill>
              <a:latin typeface="DM Sans"/>
              <a:ea typeface="DM Sans"/>
              <a:cs typeface="DM Sans"/>
              <a:sym typeface="DM Sans"/>
            </a:endParaRPr>
          </a:p>
          <a:p>
            <a:pPr indent="-412750" lvl="2" marL="1371600" rtl="0" algn="l">
              <a:lnSpc>
                <a:spcPct val="150000"/>
              </a:lnSpc>
              <a:spcBef>
                <a:spcPts val="0"/>
              </a:spcBef>
              <a:spcAft>
                <a:spcPts val="0"/>
              </a:spcAft>
              <a:buClr>
                <a:schemeClr val="lt1"/>
              </a:buClr>
              <a:buSzPts val="2900"/>
              <a:buFont typeface="DM Sans"/>
              <a:buChar char="■"/>
            </a:pPr>
            <a:r>
              <a:rPr lang="en-US" sz="2900">
                <a:solidFill>
                  <a:schemeClr val="lt1"/>
                </a:solidFill>
                <a:latin typeface="DM Sans"/>
                <a:ea typeface="DM Sans"/>
                <a:cs typeface="DM Sans"/>
                <a:sym typeface="DM Sans"/>
              </a:rPr>
              <a:t>A</a:t>
            </a:r>
            <a:r>
              <a:rPr lang="en-US" sz="2900">
                <a:solidFill>
                  <a:schemeClr val="lt1"/>
                </a:solidFill>
                <a:latin typeface="DM Sans"/>
                <a:ea typeface="DM Sans"/>
                <a:cs typeface="DM Sans"/>
                <a:sym typeface="DM Sans"/>
              </a:rPr>
              <a:t>verage Order Value (AOV)</a:t>
            </a:r>
            <a:endParaRPr sz="2900">
              <a:solidFill>
                <a:schemeClr val="lt1"/>
              </a:solidFill>
              <a:latin typeface="DM Sans"/>
              <a:ea typeface="DM Sans"/>
              <a:cs typeface="DM Sans"/>
              <a:sym typeface="DM Sans"/>
            </a:endParaRPr>
          </a:p>
          <a:p>
            <a:pPr indent="-412750" lvl="3" marL="1828800" rtl="0" algn="l">
              <a:lnSpc>
                <a:spcPct val="150000"/>
              </a:lnSpc>
              <a:spcBef>
                <a:spcPts val="0"/>
              </a:spcBef>
              <a:spcAft>
                <a:spcPts val="0"/>
              </a:spcAft>
              <a:buClr>
                <a:schemeClr val="lt1"/>
              </a:buClr>
              <a:buSzPts val="2900"/>
              <a:buFont typeface="DM Sans"/>
              <a:buChar char="●"/>
            </a:pPr>
            <a:r>
              <a:rPr lang="en-US" sz="2900">
                <a:solidFill>
                  <a:schemeClr val="lt1"/>
                </a:solidFill>
                <a:latin typeface="DM Sans"/>
                <a:ea typeface="DM Sans"/>
                <a:cs typeface="DM Sans"/>
                <a:sym typeface="DM Sans"/>
              </a:rPr>
              <a:t>$17 increase in CLV per $1 spent per order</a:t>
            </a:r>
            <a:endParaRPr sz="2900">
              <a:solidFill>
                <a:schemeClr val="lt1"/>
              </a:solidFill>
              <a:latin typeface="DM Sans"/>
              <a:ea typeface="DM Sans"/>
              <a:cs typeface="DM Sans"/>
              <a:sym typeface="DM Sans"/>
            </a:endParaRPr>
          </a:p>
          <a:p>
            <a:pPr indent="-412750" lvl="0" marL="457200" rtl="0" algn="l">
              <a:lnSpc>
                <a:spcPct val="150000"/>
              </a:lnSpc>
              <a:spcBef>
                <a:spcPts val="0"/>
              </a:spcBef>
              <a:spcAft>
                <a:spcPts val="0"/>
              </a:spcAft>
              <a:buClr>
                <a:schemeClr val="lt1"/>
              </a:buClr>
              <a:buSzPts val="2900"/>
              <a:buFont typeface="DM Sans"/>
              <a:buChar char="●"/>
            </a:pPr>
            <a:r>
              <a:rPr b="1" lang="en-US" sz="2900">
                <a:solidFill>
                  <a:schemeClr val="lt1"/>
                </a:solidFill>
                <a:latin typeface="DM Sans"/>
                <a:ea typeface="DM Sans"/>
                <a:cs typeface="DM Sans"/>
                <a:sym typeface="DM Sans"/>
              </a:rPr>
              <a:t>Conclusion: </a:t>
            </a:r>
            <a:endParaRPr b="1" sz="2900">
              <a:solidFill>
                <a:schemeClr val="lt1"/>
              </a:solidFill>
              <a:latin typeface="DM Sans"/>
              <a:ea typeface="DM Sans"/>
              <a:cs typeface="DM Sans"/>
              <a:sym typeface="DM Sans"/>
            </a:endParaRPr>
          </a:p>
          <a:p>
            <a:pPr indent="-412750" lvl="0" marL="914400" rtl="0" algn="l">
              <a:lnSpc>
                <a:spcPct val="150000"/>
              </a:lnSpc>
              <a:spcBef>
                <a:spcPts val="0"/>
              </a:spcBef>
              <a:spcAft>
                <a:spcPts val="0"/>
              </a:spcAft>
              <a:buClr>
                <a:schemeClr val="lt1"/>
              </a:buClr>
              <a:buSzPts val="2900"/>
              <a:buFont typeface="DM Sans"/>
              <a:buAutoNum type="arabicPeriod"/>
            </a:pPr>
            <a:r>
              <a:rPr lang="en-US" sz="2900">
                <a:solidFill>
                  <a:schemeClr val="lt1"/>
                </a:solidFill>
                <a:latin typeface="DM Sans"/>
                <a:ea typeface="DM Sans"/>
                <a:cs typeface="DM Sans"/>
                <a:sym typeface="DM Sans"/>
              </a:rPr>
              <a:t> Focus on repeat purchases and higher order values.</a:t>
            </a:r>
            <a:endParaRPr sz="2900">
              <a:solidFill>
                <a:schemeClr val="lt1"/>
              </a:solidFill>
              <a:latin typeface="DM Sans"/>
              <a:ea typeface="DM Sans"/>
              <a:cs typeface="DM Sans"/>
              <a:sym typeface="DM Sans"/>
            </a:endParaRPr>
          </a:p>
          <a:p>
            <a:pPr indent="-412750" lvl="0" marL="914400" rtl="0" algn="l">
              <a:lnSpc>
                <a:spcPct val="150000"/>
              </a:lnSpc>
              <a:spcBef>
                <a:spcPts val="0"/>
              </a:spcBef>
              <a:spcAft>
                <a:spcPts val="0"/>
              </a:spcAft>
              <a:buClr>
                <a:schemeClr val="lt1"/>
              </a:buClr>
              <a:buSzPts val="2900"/>
              <a:buFont typeface="DM Sans"/>
              <a:buAutoNum type="arabicPeriod"/>
            </a:pPr>
            <a:r>
              <a:rPr lang="en-US" sz="2900">
                <a:solidFill>
                  <a:schemeClr val="lt1"/>
                </a:solidFill>
                <a:latin typeface="DM Sans"/>
                <a:ea typeface="DM Sans"/>
                <a:cs typeface="DM Sans"/>
                <a:sym typeface="DM Sans"/>
              </a:rPr>
              <a:t>Implement loyalty programs &amp; bundling strategies to encourage larger transactions</a:t>
            </a:r>
            <a:endParaRPr sz="2900">
              <a:solidFill>
                <a:schemeClr val="lt1"/>
              </a:solidFill>
              <a:latin typeface="DM Sans"/>
              <a:ea typeface="DM Sans"/>
              <a:cs typeface="DM Sans"/>
              <a:sym typeface="DM Sans"/>
            </a:endParaRPr>
          </a:p>
        </p:txBody>
      </p:sp>
      <p:pic>
        <p:nvPicPr>
          <p:cNvPr id="321" name="Google Shape;321;p32"/>
          <p:cNvPicPr preferRelativeResize="0"/>
          <p:nvPr/>
        </p:nvPicPr>
        <p:blipFill>
          <a:blip r:embed="rId3">
            <a:alphaModFix/>
          </a:blip>
          <a:stretch>
            <a:fillRect/>
          </a:stretch>
        </p:blipFill>
        <p:spPr>
          <a:xfrm rot="10800000">
            <a:off x="11540325" y="-6872997"/>
            <a:ext cx="12191401" cy="9643576"/>
          </a:xfrm>
          <a:prstGeom prst="rect">
            <a:avLst/>
          </a:prstGeom>
          <a:noFill/>
          <a:ln>
            <a:noFill/>
          </a:ln>
        </p:spPr>
      </p:pic>
      <p:pic>
        <p:nvPicPr>
          <p:cNvPr id="322" name="Google Shape;322;p32"/>
          <p:cNvPicPr preferRelativeResize="0"/>
          <p:nvPr/>
        </p:nvPicPr>
        <p:blipFill>
          <a:blip r:embed="rId4">
            <a:alphaModFix/>
          </a:blip>
          <a:stretch>
            <a:fillRect/>
          </a:stretch>
        </p:blipFill>
        <p:spPr>
          <a:xfrm>
            <a:off x="11899200" y="3797225"/>
            <a:ext cx="5019125" cy="4477424"/>
          </a:xfrm>
          <a:prstGeom prst="rect">
            <a:avLst/>
          </a:prstGeom>
          <a:noFill/>
          <a:ln cap="flat" cmpd="sng" w="38100">
            <a:solidFill>
              <a:srgbClr val="888888"/>
            </a:solidFill>
            <a:prstDash val="solid"/>
            <a:round/>
            <a:headEnd len="sm" w="sm" type="none"/>
            <a:tailEnd len="sm" w="sm" type="none"/>
          </a:ln>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3131"/>
            </a:gs>
            <a:gs pos="100000">
              <a:srgbClr val="FF914D"/>
            </a:gs>
          </a:gsLst>
          <a:lin ang="2700006" scaled="0"/>
        </a:gradFill>
      </p:bgPr>
    </p:bg>
    <p:spTree>
      <p:nvGrpSpPr>
        <p:cNvPr id="326" name="Shape 326"/>
        <p:cNvGrpSpPr/>
        <p:nvPr/>
      </p:nvGrpSpPr>
      <p:grpSpPr>
        <a:xfrm>
          <a:off x="0" y="0"/>
          <a:ext cx="0" cy="0"/>
          <a:chOff x="0" y="0"/>
          <a:chExt cx="0" cy="0"/>
        </a:xfrm>
      </p:grpSpPr>
      <p:sp>
        <p:nvSpPr>
          <p:cNvPr id="327" name="Google Shape;327;p33"/>
          <p:cNvSpPr txBox="1"/>
          <p:nvPr/>
        </p:nvSpPr>
        <p:spPr>
          <a:xfrm>
            <a:off x="1028700" y="1209675"/>
            <a:ext cx="16230600" cy="10836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799">
                <a:solidFill>
                  <a:srgbClr val="FFFFFF"/>
                </a:solidFill>
                <a:latin typeface="DM Sans"/>
                <a:ea typeface="DM Sans"/>
                <a:cs typeface="DM Sans"/>
                <a:sym typeface="DM Sans"/>
              </a:rPr>
              <a:t>Next Steps</a:t>
            </a:r>
            <a:endParaRPr/>
          </a:p>
        </p:txBody>
      </p:sp>
      <p:sp>
        <p:nvSpPr>
          <p:cNvPr id="328" name="Google Shape;328;p33"/>
          <p:cNvSpPr txBox="1"/>
          <p:nvPr/>
        </p:nvSpPr>
        <p:spPr>
          <a:xfrm>
            <a:off x="1028700" y="2221825"/>
            <a:ext cx="16230600" cy="8574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t/>
            </a:r>
            <a:endParaRPr/>
          </a:p>
        </p:txBody>
      </p:sp>
      <p:sp>
        <p:nvSpPr>
          <p:cNvPr id="329" name="Google Shape;329;p33"/>
          <p:cNvSpPr txBox="1"/>
          <p:nvPr/>
        </p:nvSpPr>
        <p:spPr>
          <a:xfrm>
            <a:off x="1028700" y="3079175"/>
            <a:ext cx="16230600" cy="6204000"/>
          </a:xfrm>
          <a:prstGeom prst="rect">
            <a:avLst/>
          </a:prstGeom>
          <a:noFill/>
          <a:ln>
            <a:noFill/>
          </a:ln>
        </p:spPr>
        <p:txBody>
          <a:bodyPr anchorCtr="0" anchor="t" bIns="91425" lIns="91425" spcFirstLastPara="1" rIns="91425" wrap="square" tIns="91425">
            <a:noAutofit/>
          </a:bodyPr>
          <a:lstStyle/>
          <a:p>
            <a:pPr indent="-431800" lvl="0" marL="457200" rtl="0" algn="l">
              <a:lnSpc>
                <a:spcPct val="150000"/>
              </a:lnSpc>
              <a:spcBef>
                <a:spcPts val="0"/>
              </a:spcBef>
              <a:spcAft>
                <a:spcPts val="0"/>
              </a:spcAft>
              <a:buClr>
                <a:schemeClr val="lt1"/>
              </a:buClr>
              <a:buSzPts val="3200"/>
              <a:buFont typeface="DM Sans"/>
              <a:buChar char="●"/>
            </a:pPr>
            <a:r>
              <a:rPr lang="en-US" sz="3200">
                <a:solidFill>
                  <a:schemeClr val="lt1"/>
                </a:solidFill>
                <a:latin typeface="DM Sans"/>
                <a:ea typeface="DM Sans"/>
                <a:cs typeface="DM Sans"/>
                <a:sym typeface="DM Sans"/>
              </a:rPr>
              <a:t>Gather additional data to refine customer acquisition cost (CAC) estimates and marketing spend tracking.</a:t>
            </a:r>
            <a:endParaRPr sz="3200">
              <a:solidFill>
                <a:schemeClr val="lt1"/>
              </a:solidFill>
              <a:latin typeface="DM Sans"/>
              <a:ea typeface="DM Sans"/>
              <a:cs typeface="DM Sans"/>
              <a:sym typeface="DM Sans"/>
            </a:endParaRPr>
          </a:p>
          <a:p>
            <a:pPr indent="-431800" lvl="0" marL="457200" rtl="0" algn="l">
              <a:lnSpc>
                <a:spcPct val="150000"/>
              </a:lnSpc>
              <a:spcBef>
                <a:spcPts val="0"/>
              </a:spcBef>
              <a:spcAft>
                <a:spcPts val="0"/>
              </a:spcAft>
              <a:buClr>
                <a:schemeClr val="lt1"/>
              </a:buClr>
              <a:buSzPts val="3200"/>
              <a:buFont typeface="DM Sans"/>
              <a:buChar char="●"/>
            </a:pPr>
            <a:r>
              <a:rPr lang="en-US" sz="3200">
                <a:solidFill>
                  <a:schemeClr val="lt1"/>
                </a:solidFill>
                <a:latin typeface="DM Sans"/>
                <a:ea typeface="DM Sans"/>
                <a:cs typeface="DM Sans"/>
                <a:sym typeface="DM Sans"/>
              </a:rPr>
              <a:t>Analyze and optimize marketing budget allocation by identifying high-ROI customer segments and reducing spend on low-value audiences.</a:t>
            </a:r>
            <a:endParaRPr sz="3200">
              <a:solidFill>
                <a:schemeClr val="lt1"/>
              </a:solidFill>
              <a:latin typeface="DM Sans"/>
              <a:ea typeface="DM Sans"/>
              <a:cs typeface="DM Sans"/>
              <a:sym typeface="DM Sans"/>
            </a:endParaRPr>
          </a:p>
          <a:p>
            <a:pPr indent="-431800" lvl="0" marL="457200" rtl="0" algn="l">
              <a:lnSpc>
                <a:spcPct val="150000"/>
              </a:lnSpc>
              <a:spcBef>
                <a:spcPts val="0"/>
              </a:spcBef>
              <a:spcAft>
                <a:spcPts val="0"/>
              </a:spcAft>
              <a:buClr>
                <a:schemeClr val="lt1"/>
              </a:buClr>
              <a:buSzPts val="3200"/>
              <a:buFont typeface="DM Sans"/>
              <a:buChar char="●"/>
            </a:pPr>
            <a:r>
              <a:rPr lang="en-US" sz="3200">
                <a:solidFill>
                  <a:schemeClr val="lt1"/>
                </a:solidFill>
                <a:latin typeface="DM Sans"/>
                <a:ea typeface="DM Sans"/>
                <a:cs typeface="DM Sans"/>
                <a:sym typeface="DM Sans"/>
              </a:rPr>
              <a:t>Improve tracking of acquisition sources to determine which marketing channels drive the highest CLV.</a:t>
            </a:r>
            <a:endParaRPr sz="3200">
              <a:solidFill>
                <a:schemeClr val="lt1"/>
              </a:solidFill>
              <a:latin typeface="DM Sans"/>
              <a:ea typeface="DM Sans"/>
              <a:cs typeface="DM Sans"/>
              <a:sym typeface="DM Sans"/>
            </a:endParaRPr>
          </a:p>
          <a:p>
            <a:pPr indent="-431800" lvl="0" marL="457200" rtl="0" algn="l">
              <a:lnSpc>
                <a:spcPct val="150000"/>
              </a:lnSpc>
              <a:spcBef>
                <a:spcPts val="0"/>
              </a:spcBef>
              <a:spcAft>
                <a:spcPts val="0"/>
              </a:spcAft>
              <a:buClr>
                <a:schemeClr val="lt1"/>
              </a:buClr>
              <a:buSzPts val="3200"/>
              <a:buFont typeface="DM Sans"/>
              <a:buChar char="●"/>
            </a:pPr>
            <a:r>
              <a:rPr lang="en-US" sz="3200">
                <a:solidFill>
                  <a:schemeClr val="lt1"/>
                </a:solidFill>
                <a:latin typeface="DM Sans"/>
                <a:ea typeface="DM Sans"/>
                <a:cs typeface="DM Sans"/>
                <a:sym typeface="DM Sans"/>
              </a:rPr>
              <a:t>Refine retention strategies based on CLV insights, focusing on repeat purchases and loyalty incentives for top customers.</a:t>
            </a:r>
            <a:endParaRPr sz="3200">
              <a:solidFill>
                <a:schemeClr val="lt1"/>
              </a:solidFill>
              <a:latin typeface="DM Sans"/>
              <a:ea typeface="DM Sans"/>
              <a:cs typeface="DM Sans"/>
              <a:sym typeface="DM Sans"/>
            </a:endParaRPr>
          </a:p>
          <a:p>
            <a:pPr indent="0" lvl="0" marL="0" rtl="0" algn="l">
              <a:spcBef>
                <a:spcPts val="0"/>
              </a:spcBef>
              <a:spcAft>
                <a:spcPts val="0"/>
              </a:spcAft>
              <a:buNone/>
            </a:pPr>
            <a:r>
              <a:t/>
            </a:r>
            <a:endParaRPr sz="3200">
              <a:solidFill>
                <a:schemeClr val="lt1"/>
              </a:solidFill>
              <a:latin typeface="DM Sans"/>
              <a:ea typeface="DM Sans"/>
              <a:cs typeface="DM Sans"/>
              <a:sym typeface="DM Sans"/>
            </a:endParaRPr>
          </a:p>
        </p:txBody>
      </p:sp>
      <p:pic>
        <p:nvPicPr>
          <p:cNvPr id="330" name="Google Shape;330;p33"/>
          <p:cNvPicPr preferRelativeResize="0"/>
          <p:nvPr/>
        </p:nvPicPr>
        <p:blipFill>
          <a:blip r:embed="rId3">
            <a:alphaModFix/>
          </a:blip>
          <a:stretch>
            <a:fillRect/>
          </a:stretch>
        </p:blipFill>
        <p:spPr>
          <a:xfrm rot="10800000">
            <a:off x="11540325" y="-6872997"/>
            <a:ext cx="12191401" cy="9643576"/>
          </a:xfrm>
          <a:prstGeom prst="rect">
            <a:avLst/>
          </a:prstGeom>
          <a:noFill/>
          <a:ln>
            <a:noFill/>
          </a:ln>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34"/>
          <p:cNvPicPr preferRelativeResize="0"/>
          <p:nvPr/>
        </p:nvPicPr>
        <p:blipFill>
          <a:blip r:embed="rId3">
            <a:alphaModFix/>
          </a:blip>
          <a:stretch>
            <a:fillRect/>
          </a:stretch>
        </p:blipFill>
        <p:spPr>
          <a:xfrm>
            <a:off x="-1878328" y="-3606503"/>
            <a:ext cx="22044652" cy="14316090"/>
          </a:xfrm>
          <a:prstGeom prst="rect">
            <a:avLst/>
          </a:prstGeom>
          <a:noFill/>
          <a:ln>
            <a:noFill/>
          </a:ln>
        </p:spPr>
      </p:pic>
      <p:sp>
        <p:nvSpPr>
          <p:cNvPr id="336" name="Google Shape;336;p34"/>
          <p:cNvSpPr txBox="1"/>
          <p:nvPr/>
        </p:nvSpPr>
        <p:spPr>
          <a:xfrm>
            <a:off x="1028700" y="4554220"/>
            <a:ext cx="16230600" cy="26598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14400">
                <a:solidFill>
                  <a:srgbClr val="FF6D42"/>
                </a:solidFill>
                <a:latin typeface="DM Sans"/>
                <a:ea typeface="DM Sans"/>
                <a:cs typeface="DM Sans"/>
                <a:sym typeface="DM Sans"/>
              </a:rPr>
              <a:t>Thank You!</a:t>
            </a:r>
            <a:r>
              <a:rPr b="1" lang="en-US" sz="11300">
                <a:solidFill>
                  <a:srgbClr val="FF6D42"/>
                </a:solidFill>
                <a:latin typeface="DM Sans"/>
                <a:ea typeface="DM Sans"/>
                <a:cs typeface="DM Sans"/>
                <a:sym typeface="DM Sans"/>
              </a:rPr>
              <a:t> </a:t>
            </a:r>
            <a:endParaRPr b="1" sz="11300">
              <a:solidFill>
                <a:srgbClr val="FF6D42"/>
              </a:solidFill>
              <a:latin typeface="DM Sans"/>
              <a:ea typeface="DM Sans"/>
              <a:cs typeface="DM Sans"/>
              <a:sym typeface="DM Sans"/>
            </a:endParaRPr>
          </a:p>
          <a:p>
            <a:pPr indent="0" lvl="0" marL="0" marR="0" rtl="0" algn="l">
              <a:lnSpc>
                <a:spcPct val="80000"/>
              </a:lnSpc>
              <a:spcBef>
                <a:spcPts val="0"/>
              </a:spcBef>
              <a:spcAft>
                <a:spcPts val="0"/>
              </a:spcAft>
              <a:buNone/>
            </a:pPr>
            <a:r>
              <a:rPr b="1" lang="en-US" sz="7200">
                <a:solidFill>
                  <a:srgbClr val="FF6D42"/>
                </a:solidFill>
                <a:latin typeface="DM Sans"/>
                <a:ea typeface="DM Sans"/>
                <a:cs typeface="DM Sans"/>
                <a:sym typeface="DM Sans"/>
              </a:rPr>
              <a:t>Any Questions?</a:t>
            </a:r>
            <a:endParaRPr sz="7200"/>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Abstract Minimal After Action Review">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